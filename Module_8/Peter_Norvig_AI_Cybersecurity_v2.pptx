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I'm connecting Peter Norvig's AI philosophy directly to the cybersecurity landscape we're living in right now. We'll trace a line from his foundational ideas to Palantir's defense contracts, to the OpenClaw security crisis that's happening as we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of Norvig's thinking: (1) The intelligent agent model from AIMA: perceive, reason, act. This is now the exact architecture of EDR/XDR agents. (2) Data over elegance: his 2009 IEEE paper argued simple models plus massive data beat complex theories. That's how CrowdStrike and Palo Alto train their threat detection today. (3) Autonomous systems: his NASA Remote Agent proved AI could self-diagnose and self-repair in space. That concept is now SOAR platforms auto-isolating compromised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current examples: (1) Palantir has a $10B Army contract and $1.18B quarterly revenue. Their AIP platform IS the intelligent agent model at defense scale. (2) The small model revolution: we've gone from needing supercomputers to running AI agents on laptops. OpenClaw got 247K GitHub stars. This validates Norvig's data-over-elegance thesis. (3) CrowdStrike and Palo Alto train on billions of events daily, exactly what Norvig argued in 2009. The AI defense market is hitting $19B by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critical counterpoint. OpenClaw went viral: 247K stars, but also 9 CVEs in 3 weeks, 36% of third-party skills contain prompt injection per Snyk, 135K exposed instances, and Cisco proved that malicious skills perform silent data exfiltration. Microsoft said it should be treated as untrusted code execution. The connection to Norvig: his intelligent agent framework REQUIRES bounded perception, constrained actions, and reliable reasoning. OpenClaw deployed agents with none of these guardrails. The small-model revolution is powerful but creates enormous attack surfaces.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Norvig gave us the blueprint. Palantir shows what happens when you follow it at scale: $10B defense contracts, real-time battlefield AI. OpenClaw shows what happens when you don't: 9 CVEs, mass data exfiltration, Microsoft calling it unsafe for any workstation. As AI becomes the backbone of cybersecurity, Norvig's principles aren't just academic history. They're the playbook we need to follow.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sp>
        <p:nvSpPr>
          <p:cNvPr id="3" name="Text 1"/>
          <p:cNvSpPr/>
          <p:nvPr/>
        </p:nvSpPr>
        <p:spPr>
          <a:xfrm>
            <a:off x="731520" y="731520"/>
            <a:ext cx="7680960" cy="109728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Peter Norvig</a:t>
            </a:r>
            <a:endParaRPr lang="en-US" sz="4800" dirty="0"/>
          </a:p>
        </p:txBody>
      </p:sp>
      <p:sp>
        <p:nvSpPr>
          <p:cNvPr id="4" name="Text 2"/>
          <p:cNvSpPr/>
          <p:nvPr/>
        </p:nvSpPr>
        <p:spPr>
          <a:xfrm>
            <a:off x="731520" y="1828800"/>
            <a:ext cx="7680960" cy="82296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How One Man's AI Philosophy</a:t>
            </a:r>
            <a:endParaRPr lang="en-US" sz="2000" dirty="0"/>
          </a:p>
          <a:p>
            <a:pPr indent="0" marL="0">
              <a:buNone/>
            </a:pPr>
            <a:r>
              <a:rPr lang="en-US" sz="2000" dirty="0">
                <a:solidFill>
                  <a:srgbClr val="CADCFC"/>
                </a:solidFill>
                <a:latin typeface="Calibri" pitchFamily="34" charset="0"/>
                <a:ea typeface="Calibri" pitchFamily="34" charset="-122"/>
                <a:cs typeface="Calibri" pitchFamily="34" charset="-120"/>
              </a:rPr>
              <a:t>Defines Today's Cyber Battlefield</a:t>
            </a:r>
            <a:endParaRPr lang="en-US" sz="2000" dirty="0"/>
          </a:p>
        </p:txBody>
      </p:sp>
      <p:sp>
        <p:nvSpPr>
          <p:cNvPr id="5" name="Shape 3"/>
          <p:cNvSpPr/>
          <p:nvPr/>
        </p:nvSpPr>
        <p:spPr>
          <a:xfrm>
            <a:off x="731520" y="2834640"/>
            <a:ext cx="1371600" cy="36576"/>
          </a:xfrm>
          <a:prstGeom prst="rect">
            <a:avLst/>
          </a:prstGeom>
          <a:solidFill>
            <a:srgbClr val="E8A838"/>
          </a:solidFill>
          <a:ln/>
        </p:spPr>
      </p:sp>
      <p:sp>
        <p:nvSpPr>
          <p:cNvPr id="6" name="Text 4"/>
          <p:cNvSpPr/>
          <p:nvPr/>
        </p:nvSpPr>
        <p:spPr>
          <a:xfrm>
            <a:off x="731520" y="3063240"/>
            <a:ext cx="7680960" cy="411480"/>
          </a:xfrm>
          <a:prstGeom prst="rect">
            <a:avLst/>
          </a:prstGeom>
          <a:noFill/>
          <a:ln/>
        </p:spPr>
        <p:txBody>
          <a:bodyPr wrap="square" lIns="0" tIns="0" rIns="0" bIns="0" rtlCol="0" anchor="ctr"/>
          <a:lstStyle/>
          <a:p>
            <a:pPr indent="0" marL="0">
              <a:buNone/>
            </a:pPr>
            <a:r>
              <a:rPr lang="en-US" sz="1300" i="1" dirty="0">
                <a:solidFill>
                  <a:srgbClr val="8B92B8"/>
                </a:solidFill>
                <a:latin typeface="Calibri" pitchFamily="34" charset="0"/>
                <a:ea typeface="Calibri" pitchFamily="34" charset="-122"/>
                <a:cs typeface="Calibri" pitchFamily="34" charset="-120"/>
              </a:rPr>
              <a:t>From AIMA to Palantir, from Data Philosophy to OpenClaw Vulnerabilities</a:t>
            </a:r>
            <a:endParaRPr lang="en-US" sz="1300" dirty="0"/>
          </a:p>
        </p:txBody>
      </p:sp>
      <p:pic>
        <p:nvPicPr>
          <p:cNvPr id="7" name="Image 0" descr="preencoded.png">    </p:cNvPr>
          <p:cNvPicPr>
            <a:picLocks noChangeAspect="1"/>
          </p:cNvPicPr>
          <p:nvPr/>
        </p:nvPicPr>
        <p:blipFill>
          <a:blip r:embed="rId1"/>
          <a:stretch>
            <a:fillRect/>
          </a:stretch>
        </p:blipFill>
        <p:spPr>
          <a:xfrm>
            <a:off x="2011680" y="3840480"/>
            <a:ext cx="384048" cy="384048"/>
          </a:xfrm>
          <a:prstGeom prst="rect">
            <a:avLst/>
          </a:prstGeom>
        </p:spPr>
      </p:pic>
      <p:pic>
        <p:nvPicPr>
          <p:cNvPr id="8" name="Image 1" descr="preencoded.png">    </p:cNvPr>
          <p:cNvPicPr>
            <a:picLocks noChangeAspect="1"/>
          </p:cNvPicPr>
          <p:nvPr/>
        </p:nvPicPr>
        <p:blipFill>
          <a:blip r:embed="rId2"/>
          <a:stretch>
            <a:fillRect/>
          </a:stretch>
        </p:blipFill>
        <p:spPr>
          <a:xfrm>
            <a:off x="3611880" y="3840480"/>
            <a:ext cx="384048" cy="384048"/>
          </a:xfrm>
          <a:prstGeom prst="rect">
            <a:avLst/>
          </a:prstGeom>
        </p:spPr>
      </p:pic>
      <p:pic>
        <p:nvPicPr>
          <p:cNvPr id="9" name="Image 2" descr="preencoded.png">    </p:cNvPr>
          <p:cNvPicPr>
            <a:picLocks noChangeAspect="1"/>
          </p:cNvPicPr>
          <p:nvPr/>
        </p:nvPicPr>
        <p:blipFill>
          <a:blip r:embed="rId3"/>
          <a:stretch>
            <a:fillRect/>
          </a:stretch>
        </p:blipFill>
        <p:spPr>
          <a:xfrm>
            <a:off x="5212080" y="3840480"/>
            <a:ext cx="384048" cy="384048"/>
          </a:xfrm>
          <a:prstGeom prst="rect">
            <a:avLst/>
          </a:prstGeom>
        </p:spPr>
      </p:pic>
      <p:pic>
        <p:nvPicPr>
          <p:cNvPr id="10" name="Image 3" descr="preencoded.png">    </p:cNvPr>
          <p:cNvPicPr>
            <a:picLocks noChangeAspect="1"/>
          </p:cNvPicPr>
          <p:nvPr/>
        </p:nvPicPr>
        <p:blipFill>
          <a:blip r:embed="rId4"/>
          <a:stretch>
            <a:fillRect/>
          </a:stretch>
        </p:blipFill>
        <p:spPr>
          <a:xfrm>
            <a:off x="6812280" y="3840480"/>
            <a:ext cx="384048" cy="384048"/>
          </a:xfrm>
          <a:prstGeom prst="rect">
            <a:avLst/>
          </a:prstGeom>
        </p:spPr>
      </p:pic>
      <p:sp>
        <p:nvSpPr>
          <p:cNvPr id="11" name="Text 5"/>
          <p:cNvSpPr/>
          <p:nvPr/>
        </p:nvSpPr>
        <p:spPr>
          <a:xfrm>
            <a:off x="457200" y="4434840"/>
            <a:ext cx="8229600" cy="365760"/>
          </a:xfrm>
          <a:prstGeom prst="rect">
            <a:avLst/>
          </a:prstGeom>
          <a:noFill/>
          <a:ln/>
        </p:spPr>
        <p:txBody>
          <a:bodyPr wrap="square" lIns="0" tIns="0" rIns="0" bIns="0" rtlCol="0" anchor="ctr"/>
          <a:lstStyle/>
          <a:p>
            <a:pPr algn="ctr" indent="0" marL="0">
              <a:buNone/>
            </a:pPr>
            <a:r>
              <a:rPr lang="en-US" sz="1000" dirty="0">
                <a:solidFill>
                  <a:srgbClr val="6B7094"/>
                </a:solidFill>
                <a:latin typeface="Calibri" pitchFamily="34" charset="0"/>
                <a:ea typeface="Calibri" pitchFamily="34" charset="-122"/>
                <a:cs typeface="Calibri" pitchFamily="34" charset="-120"/>
              </a:rPr>
              <a:t>Walker  |  Northeastern University  |  Computer Science &amp; Cybersecurity  |  March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pic>
        <p:nvPicPr>
          <p:cNvPr id="3" name="Image 0" descr="preencoded.png">    </p:cNvPr>
          <p:cNvPicPr>
            <a:picLocks noChangeAspect="1"/>
          </p:cNvPicPr>
          <p:nvPr/>
        </p:nvPicPr>
        <p:blipFill>
          <a:blip r:embed="rId1"/>
          <a:stretch>
            <a:fillRect/>
          </a:stretch>
        </p:blipFill>
        <p:spPr>
          <a:xfrm>
            <a:off x="548640" y="201168"/>
            <a:ext cx="384048" cy="384048"/>
          </a:xfrm>
          <a:prstGeom prst="rect">
            <a:avLst/>
          </a:prstGeom>
        </p:spPr>
      </p:pic>
      <p:sp>
        <p:nvSpPr>
          <p:cNvPr id="4" name="Text 1"/>
          <p:cNvSpPr/>
          <p:nvPr/>
        </p:nvSpPr>
        <p:spPr>
          <a:xfrm>
            <a:off x="1051560" y="182880"/>
            <a:ext cx="7498080" cy="502920"/>
          </a:xfrm>
          <a:prstGeom prst="rect">
            <a:avLst/>
          </a:prstGeom>
          <a:noFill/>
          <a:ln/>
        </p:spPr>
        <p:txBody>
          <a:bodyPr wrap="square" lIns="0" tIns="0" rIns="0" bIns="0" rtlCol="0" anchor="ctr"/>
          <a:lstStyle/>
          <a:p>
            <a:pPr indent="0" marL="0">
              <a:buNone/>
            </a:pPr>
            <a:r>
              <a:rPr lang="en-US" sz="2600" b="1" dirty="0">
                <a:solidFill>
                  <a:srgbClr val="1A1F3D"/>
                </a:solidFill>
                <a:latin typeface="Georgia" pitchFamily="34" charset="0"/>
                <a:ea typeface="Georgia" pitchFamily="34" charset="-122"/>
                <a:cs typeface="Georgia" pitchFamily="34" charset="-120"/>
              </a:rPr>
              <a:t>Norvig's AI Philosophy &amp; Fundamentals</a:t>
            </a:r>
            <a:endParaRPr lang="en-US" sz="2600" dirty="0"/>
          </a:p>
        </p:txBody>
      </p:sp>
      <p:sp>
        <p:nvSpPr>
          <p:cNvPr id="5" name="Shape 2"/>
          <p:cNvSpPr/>
          <p:nvPr/>
        </p:nvSpPr>
        <p:spPr>
          <a:xfrm>
            <a:off x="548640" y="868680"/>
            <a:ext cx="2514600" cy="39319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3"/>
          <p:cNvSpPr/>
          <p:nvPr/>
        </p:nvSpPr>
        <p:spPr>
          <a:xfrm>
            <a:off x="548640" y="868680"/>
            <a:ext cx="2514600" cy="54864"/>
          </a:xfrm>
          <a:prstGeom prst="rect">
            <a:avLst/>
          </a:prstGeom>
          <a:solidFill>
            <a:srgbClr val="E8A838"/>
          </a:solidFill>
          <a:ln/>
        </p:spPr>
      </p:sp>
      <p:sp>
        <p:nvSpPr>
          <p:cNvPr id="7" name="Shape 4"/>
          <p:cNvSpPr/>
          <p:nvPr/>
        </p:nvSpPr>
        <p:spPr>
          <a:xfrm>
            <a:off x="3246120" y="868680"/>
            <a:ext cx="2514600" cy="39319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5"/>
          <p:cNvSpPr/>
          <p:nvPr/>
        </p:nvSpPr>
        <p:spPr>
          <a:xfrm>
            <a:off x="3246120" y="868680"/>
            <a:ext cx="2514600" cy="54864"/>
          </a:xfrm>
          <a:prstGeom prst="rect">
            <a:avLst/>
          </a:prstGeom>
          <a:solidFill>
            <a:srgbClr val="E8A838"/>
          </a:solidFill>
          <a:ln/>
        </p:spPr>
      </p:sp>
      <p:sp>
        <p:nvSpPr>
          <p:cNvPr id="9" name="Shape 6"/>
          <p:cNvSpPr/>
          <p:nvPr/>
        </p:nvSpPr>
        <p:spPr>
          <a:xfrm>
            <a:off x="5943600" y="868680"/>
            <a:ext cx="2514600" cy="39319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7"/>
          <p:cNvSpPr/>
          <p:nvPr/>
        </p:nvSpPr>
        <p:spPr>
          <a:xfrm>
            <a:off x="5943600" y="868680"/>
            <a:ext cx="2514600" cy="54864"/>
          </a:xfrm>
          <a:prstGeom prst="rect">
            <a:avLst/>
          </a:prstGeom>
          <a:solidFill>
            <a:srgbClr val="E8A838"/>
          </a:solidFill>
          <a:ln/>
        </p:spPr>
      </p:sp>
      <p:pic>
        <p:nvPicPr>
          <p:cNvPr id="11" name="Image 1" descr="preencoded.png">    </p:cNvPr>
          <p:cNvPicPr>
            <a:picLocks noChangeAspect="1"/>
          </p:cNvPicPr>
          <p:nvPr/>
        </p:nvPicPr>
        <p:blipFill>
          <a:blip r:embed="rId2"/>
          <a:stretch>
            <a:fillRect/>
          </a:stretch>
        </p:blipFill>
        <p:spPr>
          <a:xfrm>
            <a:off x="685800" y="1051560"/>
            <a:ext cx="292608" cy="292608"/>
          </a:xfrm>
          <a:prstGeom prst="rect">
            <a:avLst/>
          </a:prstGeom>
        </p:spPr>
      </p:pic>
      <p:sp>
        <p:nvSpPr>
          <p:cNvPr id="12" name="Text 8"/>
          <p:cNvSpPr/>
          <p:nvPr/>
        </p:nvSpPr>
        <p:spPr>
          <a:xfrm>
            <a:off x="1051560" y="1051560"/>
            <a:ext cx="1828800" cy="320040"/>
          </a:xfrm>
          <a:prstGeom prst="rect">
            <a:avLst/>
          </a:prstGeom>
          <a:noFill/>
          <a:ln/>
        </p:spPr>
        <p:txBody>
          <a:bodyPr wrap="square" lIns="0" tIns="0" rIns="0" bIns="0" rtlCol="0" anchor="ctr"/>
          <a:lstStyle/>
          <a:p>
            <a:pPr indent="0" marL="0">
              <a:buNone/>
            </a:pPr>
            <a:r>
              <a:rPr lang="en-US" sz="1300" b="1" dirty="0">
                <a:solidFill>
                  <a:srgbClr val="1A1F3D"/>
                </a:solidFill>
                <a:latin typeface="Calibri" pitchFamily="34" charset="0"/>
                <a:ea typeface="Calibri" pitchFamily="34" charset="-122"/>
                <a:cs typeface="Calibri" pitchFamily="34" charset="-120"/>
              </a:rPr>
              <a:t>Intelligent Agents</a:t>
            </a:r>
            <a:endParaRPr lang="en-US" sz="1300" dirty="0"/>
          </a:p>
        </p:txBody>
      </p:sp>
      <p:sp>
        <p:nvSpPr>
          <p:cNvPr id="13" name="Text 9"/>
          <p:cNvSpPr/>
          <p:nvPr/>
        </p:nvSpPr>
        <p:spPr>
          <a:xfrm>
            <a:off x="685800" y="1417320"/>
            <a:ext cx="2240280" cy="274320"/>
          </a:xfrm>
          <a:prstGeom prst="rect">
            <a:avLst/>
          </a:prstGeom>
          <a:noFill/>
          <a:ln/>
        </p:spPr>
        <p:txBody>
          <a:bodyPr wrap="square" lIns="0" tIns="0" rIns="0" bIns="0" rtlCol="0" anchor="ctr"/>
          <a:lstStyle/>
          <a:p>
            <a:pPr indent="0" marL="0">
              <a:buNone/>
            </a:pPr>
            <a:r>
              <a:rPr lang="en-US" sz="900" i="1" dirty="0">
                <a:solidFill>
                  <a:srgbClr val="E8A838"/>
                </a:solidFill>
                <a:latin typeface="Calibri" pitchFamily="34" charset="0"/>
                <a:ea typeface="Calibri" pitchFamily="34" charset="-122"/>
                <a:cs typeface="Calibri" pitchFamily="34" charset="-120"/>
              </a:rPr>
              <a:t>AIMA (1995–2021, 4 editions)</a:t>
            </a:r>
            <a:endParaRPr lang="en-US" sz="900" dirty="0"/>
          </a:p>
        </p:txBody>
      </p:sp>
      <p:sp>
        <p:nvSpPr>
          <p:cNvPr id="14" name="Text 10"/>
          <p:cNvSpPr/>
          <p:nvPr/>
        </p:nvSpPr>
        <p:spPr>
          <a:xfrm>
            <a:off x="685800" y="1737360"/>
            <a:ext cx="2240280" cy="2834640"/>
          </a:xfrm>
          <a:prstGeom prst="rect">
            <a:avLst/>
          </a:prstGeom>
          <a:noFill/>
          <a:ln/>
        </p:spPr>
        <p:txBody>
          <a:bodyPr wrap="square" lIns="0" tIns="0" rIns="0" bIns="0" rtlCol="0" anchor="t"/>
          <a:lstStyle/>
          <a:p>
            <a:pPr indent="0" marL="0">
              <a:buNone/>
            </a:pPr>
            <a:r>
              <a:rPr lang="en-US" sz="1050" dirty="0">
                <a:solidFill>
                  <a:srgbClr val="2C3050"/>
                </a:solidFill>
                <a:latin typeface="Calibri" pitchFamily="34" charset="0"/>
                <a:ea typeface="Calibri" pitchFamily="34" charset="-122"/>
                <a:cs typeface="Calibri" pitchFamily="34" charset="-120"/>
              </a:rPr>
              <a:t>AI systems should perceive their environment, reason about it, and act autonomously to achieve goals. This framework, taught in 1,500+ universities across 135 countries, is the conceptual DNA of every modern AI security agent.</a:t>
            </a:r>
            <a:endParaRPr lang="en-US" sz="1050" dirty="0"/>
          </a:p>
        </p:txBody>
      </p:sp>
      <p:pic>
        <p:nvPicPr>
          <p:cNvPr id="15" name="Image 2" descr="preencoded.png">    </p:cNvPr>
          <p:cNvPicPr>
            <a:picLocks noChangeAspect="1"/>
          </p:cNvPicPr>
          <p:nvPr/>
        </p:nvPicPr>
        <p:blipFill>
          <a:blip r:embed="rId3"/>
          <a:stretch>
            <a:fillRect/>
          </a:stretch>
        </p:blipFill>
        <p:spPr>
          <a:xfrm>
            <a:off x="3383280" y="1051560"/>
            <a:ext cx="292608" cy="292608"/>
          </a:xfrm>
          <a:prstGeom prst="rect">
            <a:avLst/>
          </a:prstGeom>
        </p:spPr>
      </p:pic>
      <p:sp>
        <p:nvSpPr>
          <p:cNvPr id="16" name="Text 11"/>
          <p:cNvSpPr/>
          <p:nvPr/>
        </p:nvSpPr>
        <p:spPr>
          <a:xfrm>
            <a:off x="3749040" y="1051560"/>
            <a:ext cx="1828800" cy="320040"/>
          </a:xfrm>
          <a:prstGeom prst="rect">
            <a:avLst/>
          </a:prstGeom>
          <a:noFill/>
          <a:ln/>
        </p:spPr>
        <p:txBody>
          <a:bodyPr wrap="square" lIns="0" tIns="0" rIns="0" bIns="0" rtlCol="0" anchor="ctr"/>
          <a:lstStyle/>
          <a:p>
            <a:pPr indent="0" marL="0">
              <a:buNone/>
            </a:pPr>
            <a:r>
              <a:rPr lang="en-US" sz="1300" b="1" dirty="0">
                <a:solidFill>
                  <a:srgbClr val="1A1F3D"/>
                </a:solidFill>
                <a:latin typeface="Calibri" pitchFamily="34" charset="0"/>
                <a:ea typeface="Calibri" pitchFamily="34" charset="-122"/>
                <a:cs typeface="Calibri" pitchFamily="34" charset="-120"/>
              </a:rPr>
              <a:t>Data Over Elegance</a:t>
            </a:r>
            <a:endParaRPr lang="en-US" sz="1300" dirty="0"/>
          </a:p>
        </p:txBody>
      </p:sp>
      <p:sp>
        <p:nvSpPr>
          <p:cNvPr id="17" name="Text 12"/>
          <p:cNvSpPr/>
          <p:nvPr/>
        </p:nvSpPr>
        <p:spPr>
          <a:xfrm>
            <a:off x="3383280" y="1417320"/>
            <a:ext cx="2240280" cy="274320"/>
          </a:xfrm>
          <a:prstGeom prst="rect">
            <a:avLst/>
          </a:prstGeom>
          <a:noFill/>
          <a:ln/>
        </p:spPr>
        <p:txBody>
          <a:bodyPr wrap="square" lIns="0" tIns="0" rIns="0" bIns="0" rtlCol="0" anchor="ctr"/>
          <a:lstStyle/>
          <a:p>
            <a:pPr indent="0" marL="0">
              <a:buNone/>
            </a:pPr>
            <a:r>
              <a:rPr lang="en-US" sz="900" i="1" dirty="0">
                <a:solidFill>
                  <a:srgbClr val="E8A838"/>
                </a:solidFill>
                <a:latin typeface="Calibri" pitchFamily="34" charset="0"/>
                <a:ea typeface="Calibri" pitchFamily="34" charset="-122"/>
                <a:cs typeface="Calibri" pitchFamily="34" charset="-120"/>
              </a:rPr>
              <a:t>IEEE Intelligent Systems (2009)</a:t>
            </a:r>
            <a:endParaRPr lang="en-US" sz="900" dirty="0"/>
          </a:p>
        </p:txBody>
      </p:sp>
      <p:sp>
        <p:nvSpPr>
          <p:cNvPr id="18" name="Text 13"/>
          <p:cNvSpPr/>
          <p:nvPr/>
        </p:nvSpPr>
        <p:spPr>
          <a:xfrm>
            <a:off x="3383280" y="1737360"/>
            <a:ext cx="2240280" cy="2834640"/>
          </a:xfrm>
          <a:prstGeom prst="rect">
            <a:avLst/>
          </a:prstGeom>
          <a:noFill/>
          <a:ln/>
        </p:spPr>
        <p:txBody>
          <a:bodyPr wrap="square" lIns="0" tIns="0" rIns="0" bIns="0" rtlCol="0" anchor="t"/>
          <a:lstStyle/>
          <a:p>
            <a:pPr indent="0" marL="0">
              <a:buNone/>
            </a:pPr>
            <a:r>
              <a:rPr lang="en-US" sz="1050" dirty="0">
                <a:solidFill>
                  <a:srgbClr val="2C3050"/>
                </a:solidFill>
                <a:latin typeface="Calibri" pitchFamily="34" charset="0"/>
                <a:ea typeface="Calibri" pitchFamily="34" charset="-122"/>
                <a:cs typeface="Calibri" pitchFamily="34" charset="-120"/>
              </a:rPr>
              <a:t>Simple models trained on massive data outperform complex models with limited data. This insight, cited 1,600+ times, predicted the shift from hand-crafted rules to ML-driven threat detection that defines cybersecurity today.</a:t>
            </a:r>
            <a:endParaRPr lang="en-US" sz="1050" dirty="0"/>
          </a:p>
        </p:txBody>
      </p:sp>
      <p:pic>
        <p:nvPicPr>
          <p:cNvPr id="19" name="Image 3" descr="preencoded.png">    </p:cNvPr>
          <p:cNvPicPr>
            <a:picLocks noChangeAspect="1"/>
          </p:cNvPicPr>
          <p:nvPr/>
        </p:nvPicPr>
        <p:blipFill>
          <a:blip r:embed="rId4"/>
          <a:stretch>
            <a:fillRect/>
          </a:stretch>
        </p:blipFill>
        <p:spPr>
          <a:xfrm>
            <a:off x="6080760" y="1051560"/>
            <a:ext cx="292608" cy="292608"/>
          </a:xfrm>
          <a:prstGeom prst="rect">
            <a:avLst/>
          </a:prstGeom>
        </p:spPr>
      </p:pic>
      <p:sp>
        <p:nvSpPr>
          <p:cNvPr id="20" name="Text 14"/>
          <p:cNvSpPr/>
          <p:nvPr/>
        </p:nvSpPr>
        <p:spPr>
          <a:xfrm>
            <a:off x="6446520" y="1051560"/>
            <a:ext cx="1828800" cy="320040"/>
          </a:xfrm>
          <a:prstGeom prst="rect">
            <a:avLst/>
          </a:prstGeom>
          <a:noFill/>
          <a:ln/>
        </p:spPr>
        <p:txBody>
          <a:bodyPr wrap="square" lIns="0" tIns="0" rIns="0" bIns="0" rtlCol="0" anchor="ctr"/>
          <a:lstStyle/>
          <a:p>
            <a:pPr indent="0" marL="0">
              <a:buNone/>
            </a:pPr>
            <a:r>
              <a:rPr lang="en-US" sz="1300" b="1" dirty="0">
                <a:solidFill>
                  <a:srgbClr val="1A1F3D"/>
                </a:solidFill>
                <a:latin typeface="Calibri" pitchFamily="34" charset="0"/>
                <a:ea typeface="Calibri" pitchFamily="34" charset="-122"/>
                <a:cs typeface="Calibri" pitchFamily="34" charset="-120"/>
              </a:rPr>
              <a:t>Autonomous Systems</a:t>
            </a:r>
            <a:endParaRPr lang="en-US" sz="1300" dirty="0"/>
          </a:p>
        </p:txBody>
      </p:sp>
      <p:sp>
        <p:nvSpPr>
          <p:cNvPr id="21" name="Text 15"/>
          <p:cNvSpPr/>
          <p:nvPr/>
        </p:nvSpPr>
        <p:spPr>
          <a:xfrm>
            <a:off x="6080760" y="1417320"/>
            <a:ext cx="2240280" cy="274320"/>
          </a:xfrm>
          <a:prstGeom prst="rect">
            <a:avLst/>
          </a:prstGeom>
          <a:noFill/>
          <a:ln/>
        </p:spPr>
        <p:txBody>
          <a:bodyPr wrap="square" lIns="0" tIns="0" rIns="0" bIns="0" rtlCol="0" anchor="ctr"/>
          <a:lstStyle/>
          <a:p>
            <a:pPr indent="0" marL="0">
              <a:buNone/>
            </a:pPr>
            <a:r>
              <a:rPr lang="en-US" sz="900" i="1" dirty="0">
                <a:solidFill>
                  <a:srgbClr val="E8A838"/>
                </a:solidFill>
                <a:latin typeface="Calibri" pitchFamily="34" charset="0"/>
                <a:ea typeface="Calibri" pitchFamily="34" charset="-122"/>
                <a:cs typeface="Calibri" pitchFamily="34" charset="-120"/>
              </a:rPr>
              <a:t>NASA Remote Agent (1998–1999)</a:t>
            </a:r>
            <a:endParaRPr lang="en-US" sz="900" dirty="0"/>
          </a:p>
        </p:txBody>
      </p:sp>
      <p:sp>
        <p:nvSpPr>
          <p:cNvPr id="22" name="Text 16"/>
          <p:cNvSpPr/>
          <p:nvPr/>
        </p:nvSpPr>
        <p:spPr>
          <a:xfrm>
            <a:off x="6080760" y="1737360"/>
            <a:ext cx="2240280" cy="2834640"/>
          </a:xfrm>
          <a:prstGeom prst="rect">
            <a:avLst/>
          </a:prstGeom>
          <a:noFill/>
          <a:ln/>
        </p:spPr>
        <p:txBody>
          <a:bodyPr wrap="square" lIns="0" tIns="0" rIns="0" bIns="0" rtlCol="0" anchor="t"/>
          <a:lstStyle/>
          <a:p>
            <a:pPr indent="0" marL="0">
              <a:buNone/>
            </a:pPr>
            <a:r>
              <a:rPr lang="en-US" sz="1050" dirty="0">
                <a:solidFill>
                  <a:srgbClr val="2C3050"/>
                </a:solidFill>
                <a:latin typeface="Calibri" pitchFamily="34" charset="0"/>
                <a:ea typeface="Calibri" pitchFamily="34" charset="-122"/>
                <a:cs typeface="Calibri" pitchFamily="34" charset="-120"/>
              </a:rPr>
              <a:t>AI can diagnose faults and self-recover without human intervention. His team built the first AI to autonomously command a spacecraft, winning NASA's 1999 Software of the Year. This is the ancestor of automated incident response.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pic>
        <p:nvPicPr>
          <p:cNvPr id="3" name="Image 0" descr="preencoded.png">    </p:cNvPr>
          <p:cNvPicPr>
            <a:picLocks noChangeAspect="1"/>
          </p:cNvPicPr>
          <p:nvPr/>
        </p:nvPicPr>
        <p:blipFill>
          <a:blip r:embed="rId1"/>
          <a:stretch>
            <a:fillRect/>
          </a:stretch>
        </p:blipFill>
        <p:spPr>
          <a:xfrm>
            <a:off x="548640" y="201168"/>
            <a:ext cx="384048" cy="384048"/>
          </a:xfrm>
          <a:prstGeom prst="rect">
            <a:avLst/>
          </a:prstGeom>
        </p:spPr>
      </p:pic>
      <p:sp>
        <p:nvSpPr>
          <p:cNvPr id="4" name="Text 1"/>
          <p:cNvSpPr/>
          <p:nvPr/>
        </p:nvSpPr>
        <p:spPr>
          <a:xfrm>
            <a:off x="1051560" y="182880"/>
            <a:ext cx="7589520" cy="502920"/>
          </a:xfrm>
          <a:prstGeom prst="rect">
            <a:avLst/>
          </a:prstGeom>
          <a:noFill/>
          <a:ln/>
        </p:spPr>
        <p:txBody>
          <a:bodyPr wrap="square" lIns="0" tIns="0" rIns="0" bIns="0" rtlCol="0" anchor="ctr"/>
          <a:lstStyle/>
          <a:p>
            <a:pPr indent="0" marL="0">
              <a:buNone/>
            </a:pPr>
            <a:r>
              <a:rPr lang="en-US" sz="2400" b="1" dirty="0">
                <a:solidFill>
                  <a:srgbClr val="1A1F3D"/>
                </a:solidFill>
                <a:latin typeface="Georgia" pitchFamily="34" charset="0"/>
                <a:ea typeface="Georgia" pitchFamily="34" charset="-122"/>
                <a:cs typeface="Georgia" pitchFamily="34" charset="-120"/>
              </a:rPr>
              <a:t>His Principles in Action: AI Meets Cybersecurity</a:t>
            </a:r>
            <a:endParaRPr lang="en-US" sz="2400" dirty="0"/>
          </a:p>
        </p:txBody>
      </p:sp>
      <p:sp>
        <p:nvSpPr>
          <p:cNvPr id="5" name="Shape 2"/>
          <p:cNvSpPr/>
          <p:nvPr/>
        </p:nvSpPr>
        <p:spPr>
          <a:xfrm>
            <a:off x="548640" y="868680"/>
            <a:ext cx="8046720" cy="1234440"/>
          </a:xfrm>
          <a:prstGeom prst="rect">
            <a:avLst/>
          </a:prstGeom>
          <a:solidFill>
            <a:srgbClr val="252B54"/>
          </a:solidFill>
          <a:ln/>
          <a:effectLst>
            <a:outerShdw sx="100000" sy="100000" kx="0" ky="0" algn="bl" rotWithShape="0" blurRad="101600" dist="38100" dir="8100000">
              <a:srgbClr val="000000">
                <a:alpha val="12000"/>
              </a:srgbClr>
            </a:outerShdw>
          </a:effectLst>
        </p:spPr>
      </p:sp>
      <p:sp>
        <p:nvSpPr>
          <p:cNvPr id="6" name="Shape 3"/>
          <p:cNvSpPr/>
          <p:nvPr/>
        </p:nvSpPr>
        <p:spPr>
          <a:xfrm>
            <a:off x="548640" y="868680"/>
            <a:ext cx="73152" cy="1234440"/>
          </a:xfrm>
          <a:prstGeom prst="rect">
            <a:avLst/>
          </a:prstGeom>
          <a:solidFill>
            <a:srgbClr val="E8A838"/>
          </a:solidFill>
          <a:ln/>
        </p:spPr>
      </p:sp>
      <p:sp>
        <p:nvSpPr>
          <p:cNvPr id="7" name="Text 4"/>
          <p:cNvSpPr/>
          <p:nvPr/>
        </p:nvSpPr>
        <p:spPr>
          <a:xfrm>
            <a:off x="914400" y="960120"/>
            <a:ext cx="7452360" cy="1051560"/>
          </a:xfrm>
          <a:prstGeom prst="rect">
            <a:avLst/>
          </a:prstGeom>
          <a:noFill/>
          <a:ln/>
        </p:spPr>
        <p:txBody>
          <a:bodyPr wrap="square" lIns="0" tIns="0" rIns="0" bIns="0" rtlCol="0" anchor="ctr"/>
          <a:lstStyle/>
          <a:p>
            <a:pPr indent="0" marL="0">
              <a:buNone/>
            </a:pPr>
            <a:r>
              <a:rPr lang="en-US" sz="1400" b="1" dirty="0">
                <a:solidFill>
                  <a:srgbClr val="E8A838"/>
                </a:solidFill>
                <a:latin typeface="Calibri" pitchFamily="34" charset="0"/>
                <a:ea typeface="Calibri" pitchFamily="34" charset="-122"/>
                <a:cs typeface="Calibri" pitchFamily="34" charset="-120"/>
              </a:rPr>
              <a:t>Palantir &amp; Defense AI: Norvig's Agent Model at Scale</a:t>
            </a:r>
            <a:endParaRPr lang="en-US" sz="1400" dirty="0"/>
          </a:p>
          <a:p>
            <a:pPr indent="0" marL="0">
              <a:buNone/>
            </a:pPr>
            <a:r>
              <a:rPr lang="en-US" sz="1050" dirty="0">
                <a:solidFill>
                  <a:srgbClr val="CADCFC"/>
                </a:solidFill>
                <a:latin typeface="Calibri" pitchFamily="34" charset="0"/>
                <a:ea typeface="Calibri" pitchFamily="34" charset="-122"/>
                <a:cs typeface="Calibri" pitchFamily="34" charset="-120"/>
              </a:rPr>
              <a:t>Palantir's AIP platform, which drove $1.18B in Q3 2025 revenue (+63% YoY), lets defense agencies integrate LLMs across complex data systems for real-time battlefield decision making. The U.S. Army awarded Palantir a $10B enterprise agreement for data integration, analytics, and AI. This is Norvig's intelligent agent framework operating at national defense scale: perceive threats across data streams, reason about responses, and act autonomously.</a:t>
            </a:r>
            <a:endParaRPr lang="en-US" sz="1400" dirty="0"/>
          </a:p>
        </p:txBody>
      </p:sp>
      <p:sp>
        <p:nvSpPr>
          <p:cNvPr id="8" name="Shape 5"/>
          <p:cNvSpPr/>
          <p:nvPr/>
        </p:nvSpPr>
        <p:spPr>
          <a:xfrm>
            <a:off x="548640" y="2286000"/>
            <a:ext cx="8046720" cy="123444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6"/>
          <p:cNvSpPr/>
          <p:nvPr/>
        </p:nvSpPr>
        <p:spPr>
          <a:xfrm>
            <a:off x="548640" y="2286000"/>
            <a:ext cx="73152" cy="1234440"/>
          </a:xfrm>
          <a:prstGeom prst="rect">
            <a:avLst/>
          </a:prstGeom>
          <a:solidFill>
            <a:srgbClr val="E8A838"/>
          </a:solidFill>
          <a:ln/>
        </p:spPr>
      </p:sp>
      <p:sp>
        <p:nvSpPr>
          <p:cNvPr id="10" name="Text 7"/>
          <p:cNvSpPr/>
          <p:nvPr/>
        </p:nvSpPr>
        <p:spPr>
          <a:xfrm>
            <a:off x="914400" y="2377440"/>
            <a:ext cx="7452360" cy="1051560"/>
          </a:xfrm>
          <a:prstGeom prst="rect">
            <a:avLst/>
          </a:prstGeom>
          <a:noFill/>
          <a:ln/>
        </p:spPr>
        <p:txBody>
          <a:bodyPr wrap="square" lIns="0" tIns="0" rIns="0" bIns="0" rtlCol="0" anchor="ctr"/>
          <a:lstStyle/>
          <a:p>
            <a:pPr indent="0" marL="0">
              <a:buNone/>
            </a:pPr>
            <a:r>
              <a:rPr lang="en-US" sz="1400" b="1" dirty="0">
                <a:solidFill>
                  <a:srgbClr val="1A1F3D"/>
                </a:solidFill>
                <a:latin typeface="Calibri" pitchFamily="34" charset="0"/>
                <a:ea typeface="Calibri" pitchFamily="34" charset="-122"/>
                <a:cs typeface="Calibri" pitchFamily="34" charset="-120"/>
              </a:rPr>
              <a:t>The Shift to Smaller Models: Norvig Was Right</a:t>
            </a:r>
            <a:endParaRPr lang="en-US" sz="1400" dirty="0"/>
          </a:p>
          <a:p>
            <a:pPr indent="0" marL="0">
              <a:buNone/>
            </a:pPr>
            <a:r>
              <a:rPr lang="en-US" sz="1050" dirty="0">
                <a:solidFill>
                  <a:srgbClr val="2C3050"/>
                </a:solidFill>
                <a:latin typeface="Calibri" pitchFamily="34" charset="0"/>
                <a:ea typeface="Calibri" pitchFamily="34" charset="-122"/>
                <a:cs typeface="Calibri" pitchFamily="34" charset="-120"/>
              </a:rPr>
              <a:t>The industry is moving from massive, monolithic AI models to small, efficient, task-specific agents. OpenClaw (247K GitHub stars, Feb 2026) runs locally on laptops using models like Llama and DeepSeek. This mirrors Norvig's core belief: you don't need the most elegant or largest model. You need the right data and a well-designed agent architecture. Small models + big data = effective AI. This is now playing out in cybersecurity EDR, mobile apps, and personal assistants.</a:t>
            </a:r>
            <a:endParaRPr lang="en-US" sz="1400" dirty="0"/>
          </a:p>
        </p:txBody>
      </p:sp>
      <p:sp>
        <p:nvSpPr>
          <p:cNvPr id="11" name="Shape 8"/>
          <p:cNvSpPr/>
          <p:nvPr/>
        </p:nvSpPr>
        <p:spPr>
          <a:xfrm>
            <a:off x="548640" y="3703320"/>
            <a:ext cx="8046720" cy="1234440"/>
          </a:xfrm>
          <a:prstGeom prst="rect">
            <a:avLst/>
          </a:prstGeom>
          <a:solidFill>
            <a:srgbClr val="252B54"/>
          </a:solidFill>
          <a:ln/>
          <a:effectLst>
            <a:outerShdw sx="100000" sy="100000" kx="0" ky="0" algn="bl" rotWithShape="0" blurRad="101600" dist="38100" dir="8100000">
              <a:srgbClr val="000000">
                <a:alpha val="12000"/>
              </a:srgbClr>
            </a:outerShdw>
          </a:effectLst>
        </p:spPr>
      </p:sp>
      <p:sp>
        <p:nvSpPr>
          <p:cNvPr id="12" name="Shape 9"/>
          <p:cNvSpPr/>
          <p:nvPr/>
        </p:nvSpPr>
        <p:spPr>
          <a:xfrm>
            <a:off x="548640" y="3703320"/>
            <a:ext cx="73152" cy="1234440"/>
          </a:xfrm>
          <a:prstGeom prst="rect">
            <a:avLst/>
          </a:prstGeom>
          <a:solidFill>
            <a:srgbClr val="E8A838"/>
          </a:solidFill>
          <a:ln/>
        </p:spPr>
      </p:sp>
      <p:sp>
        <p:nvSpPr>
          <p:cNvPr id="13" name="Text 10"/>
          <p:cNvSpPr/>
          <p:nvPr/>
        </p:nvSpPr>
        <p:spPr>
          <a:xfrm>
            <a:off x="914400" y="3794760"/>
            <a:ext cx="7452360" cy="1051560"/>
          </a:xfrm>
          <a:prstGeom prst="rect">
            <a:avLst/>
          </a:prstGeom>
          <a:noFill/>
          <a:ln/>
        </p:spPr>
        <p:txBody>
          <a:bodyPr wrap="square" lIns="0" tIns="0" rIns="0" bIns="0" rtlCol="0" anchor="ctr"/>
          <a:lstStyle/>
          <a:p>
            <a:pPr indent="0" marL="0">
              <a:buNone/>
            </a:pPr>
            <a:r>
              <a:rPr lang="en-US" sz="1400" b="1" dirty="0">
                <a:solidFill>
                  <a:srgbClr val="E8A838"/>
                </a:solidFill>
                <a:latin typeface="Calibri" pitchFamily="34" charset="0"/>
                <a:ea typeface="Calibri" pitchFamily="34" charset="-122"/>
                <a:cs typeface="Calibri" pitchFamily="34" charset="-120"/>
              </a:rPr>
              <a:t>AI Threat Detection: Data-Driven Defense</a:t>
            </a:r>
            <a:endParaRPr lang="en-US" sz="1400" dirty="0"/>
          </a:p>
          <a:p>
            <a:pPr indent="0" marL="0">
              <a:buNone/>
            </a:pPr>
            <a:r>
              <a:rPr lang="en-US" sz="1050" dirty="0">
                <a:solidFill>
                  <a:srgbClr val="CADCFC"/>
                </a:solidFill>
                <a:latin typeface="Calibri" pitchFamily="34" charset="0"/>
                <a:ea typeface="Calibri" pitchFamily="34" charset="-122"/>
                <a:cs typeface="Calibri" pitchFamily="34" charset="-120"/>
              </a:rPr>
              <a:t>CrowdStrike and Palo Alto Networks train ML models on billions of daily security events to detect zero-day exploits and behavioral anomalies. These systems learn baselines and flag deviations, exactly as Norvig's data philosophy prescribes. The global AI defense market is projected to reach $19.29B by 2030, driven by the principle that massive, continuously updated data is the strongest defense.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0392B"/>
          </a:solidFill>
          <a:ln/>
        </p:spPr>
      </p:sp>
      <p:pic>
        <p:nvPicPr>
          <p:cNvPr id="3" name="Image 0" descr="preencoded.png">    </p:cNvPr>
          <p:cNvPicPr>
            <a:picLocks noChangeAspect="1"/>
          </p:cNvPicPr>
          <p:nvPr/>
        </p:nvPicPr>
        <p:blipFill>
          <a:blip r:embed="rId1"/>
          <a:stretch>
            <a:fillRect/>
          </a:stretch>
        </p:blipFill>
        <p:spPr>
          <a:xfrm>
            <a:off x="548640" y="201168"/>
            <a:ext cx="384048" cy="384048"/>
          </a:xfrm>
          <a:prstGeom prst="rect">
            <a:avLst/>
          </a:prstGeom>
        </p:spPr>
      </p:pic>
      <p:sp>
        <p:nvSpPr>
          <p:cNvPr id="4" name="Text 1"/>
          <p:cNvSpPr/>
          <p:nvPr/>
        </p:nvSpPr>
        <p:spPr>
          <a:xfrm>
            <a:off x="1051560" y="182880"/>
            <a:ext cx="7589520" cy="50292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The Other Side: New AI, New Vulnerabilities</a:t>
            </a:r>
            <a:endParaRPr lang="en-US" sz="2400" dirty="0"/>
          </a:p>
        </p:txBody>
      </p:sp>
      <p:sp>
        <p:nvSpPr>
          <p:cNvPr id="5" name="Shape 2"/>
          <p:cNvSpPr/>
          <p:nvPr/>
        </p:nvSpPr>
        <p:spPr>
          <a:xfrm>
            <a:off x="548640" y="868680"/>
            <a:ext cx="5120640" cy="3977640"/>
          </a:xfrm>
          <a:prstGeom prst="rect">
            <a:avLst/>
          </a:prstGeom>
          <a:solidFill>
            <a:srgbClr val="3D1A1A"/>
          </a:solidFill>
          <a:ln/>
          <a:effectLst>
            <a:outerShdw sx="100000" sy="100000" kx="0" ky="0" algn="bl" rotWithShape="0" blurRad="101600" dist="38100" dir="8100000">
              <a:srgbClr val="000000">
                <a:alpha val="12000"/>
              </a:srgbClr>
            </a:outerShdw>
          </a:effectLst>
        </p:spPr>
      </p:sp>
      <p:sp>
        <p:nvSpPr>
          <p:cNvPr id="6" name="Shape 3"/>
          <p:cNvSpPr/>
          <p:nvPr/>
        </p:nvSpPr>
        <p:spPr>
          <a:xfrm>
            <a:off x="548640" y="868680"/>
            <a:ext cx="73152" cy="3977640"/>
          </a:xfrm>
          <a:prstGeom prst="rect">
            <a:avLst/>
          </a:prstGeom>
          <a:solidFill>
            <a:srgbClr val="C0392B"/>
          </a:solidFill>
          <a:ln/>
        </p:spPr>
      </p:sp>
      <p:sp>
        <p:nvSpPr>
          <p:cNvPr id="7" name="Text 4"/>
          <p:cNvSpPr/>
          <p:nvPr/>
        </p:nvSpPr>
        <p:spPr>
          <a:xfrm>
            <a:off x="914400" y="960120"/>
            <a:ext cx="4526280" cy="3749040"/>
          </a:xfrm>
          <a:prstGeom prst="rect">
            <a:avLst/>
          </a:prstGeom>
          <a:noFill/>
          <a:ln/>
        </p:spPr>
        <p:txBody>
          <a:bodyPr wrap="square" lIns="0" tIns="0" rIns="0" bIns="0" rtlCol="0" anchor="t"/>
          <a:lstStyle/>
          <a:p>
            <a:pPr indent="0" marL="0">
              <a:buNone/>
            </a:pPr>
            <a:r>
              <a:rPr lang="en-US" sz="1500" b="1" dirty="0">
                <a:solidFill>
                  <a:srgbClr val="C0392B"/>
                </a:solidFill>
                <a:latin typeface="Calibri" pitchFamily="34" charset="0"/>
                <a:ea typeface="Calibri" pitchFamily="34" charset="-122"/>
                <a:cs typeface="Calibri" pitchFamily="34" charset="-120"/>
              </a:rPr>
              <a:t>OpenClaw: A Security Crisis in Real Time</a:t>
            </a:r>
            <a:endParaRPr lang="en-US" sz="1500" dirty="0"/>
          </a:p>
          <a:p>
            <a:pPr indent="0" marL="0">
              <a:buNone/>
            </a:pPr>
            <a:endParaRPr lang="en-US" sz="1500" dirty="0"/>
          </a:p>
          <a:p>
            <a:pPr indent="0" marL="0">
              <a:buNone/>
            </a:pPr>
            <a:r>
              <a:rPr lang="en-US" sz="1050" dirty="0">
                <a:solidFill>
                  <a:srgbClr val="CADCFC"/>
                </a:solidFill>
                <a:latin typeface="Calibri" pitchFamily="34" charset="0"/>
                <a:ea typeface="Calibri" pitchFamily="34" charset="-122"/>
                <a:cs typeface="Calibri" pitchFamily="34" charset="-120"/>
              </a:rPr>
              <a:t>OpenClaw, a viral open-source AI agent (247K GitHub stars), demonstrates what happens when Norvig's autonomous agent concept is deployed without security fundamentals:</a:t>
            </a:r>
            <a:endParaRPr lang="en-US" sz="1500" dirty="0"/>
          </a:p>
          <a:p>
            <a:pPr indent="0" marL="0">
              <a:buNone/>
            </a:pPr>
            <a:endParaRPr lang="en-US" sz="1500" dirty="0"/>
          </a:p>
          <a:p>
            <a:pPr marL="342900" indent="-342900">
              <a:buSzPct val="100000"/>
              <a:buChar char="•"/>
            </a:pPr>
            <a:r>
              <a:rPr lang="en-US" sz="1050" dirty="0">
                <a:solidFill>
                  <a:srgbClr val="CADCFC"/>
                </a:solidFill>
                <a:latin typeface="Calibri" pitchFamily="34" charset="0"/>
                <a:ea typeface="Calibri" pitchFamily="34" charset="-122"/>
                <a:cs typeface="Calibri" pitchFamily="34" charset="-120"/>
              </a:rPr>
              <a:t>CVE-2026-25253 (CVSS 8.8): One-click RCE via malicious link</a:t>
            </a:r>
            <a:endParaRPr lang="en-US" sz="1500" dirty="0"/>
          </a:p>
          <a:p>
            <a:pPr marL="342900" indent="-342900">
              <a:buSzPct val="100000"/>
              <a:buChar char="•"/>
            </a:pPr>
            <a:r>
              <a:rPr lang="en-US" sz="1050" dirty="0">
                <a:solidFill>
                  <a:srgbClr val="CADCFC"/>
                </a:solidFill>
                <a:latin typeface="Calibri" pitchFamily="34" charset="0"/>
                <a:ea typeface="Calibri" pitchFamily="34" charset="-122"/>
                <a:cs typeface="Calibri" pitchFamily="34" charset="-120"/>
              </a:rPr>
              <a:t>36% of ClawHub skills contain prompt injection (Snyk audit)</a:t>
            </a:r>
            <a:endParaRPr lang="en-US" sz="1500" dirty="0"/>
          </a:p>
          <a:p>
            <a:pPr marL="342900" indent="-342900">
              <a:buSzPct val="100000"/>
              <a:buChar char="•"/>
            </a:pPr>
            <a:r>
              <a:rPr lang="en-US" sz="1050" dirty="0">
                <a:solidFill>
                  <a:srgbClr val="CADCFC"/>
                </a:solidFill>
                <a:latin typeface="Calibri" pitchFamily="34" charset="0"/>
                <a:ea typeface="Calibri" pitchFamily="34" charset="-122"/>
                <a:cs typeface="Calibri" pitchFamily="34" charset="-120"/>
              </a:rPr>
              <a:t>1,467 confirmed malicious payloads in the skills ecosystem</a:t>
            </a:r>
            <a:endParaRPr lang="en-US" sz="1500" dirty="0"/>
          </a:p>
          <a:p>
            <a:pPr marL="342900" indent="-342900">
              <a:buSzPct val="100000"/>
              <a:buChar char="•"/>
            </a:pPr>
            <a:r>
              <a:rPr lang="en-US" sz="1050" dirty="0">
                <a:solidFill>
                  <a:srgbClr val="CADCFC"/>
                </a:solidFill>
                <a:latin typeface="Calibri" pitchFamily="34" charset="0"/>
                <a:ea typeface="Calibri" pitchFamily="34" charset="-122"/>
                <a:cs typeface="Calibri" pitchFamily="34" charset="-120"/>
              </a:rPr>
              <a:t>135,000+ exposed instances found by SecurityScorecard</a:t>
            </a:r>
            <a:endParaRPr lang="en-US" sz="1500" dirty="0"/>
          </a:p>
          <a:p>
            <a:pPr marL="342900" indent="-342900">
              <a:buSzPct val="100000"/>
              <a:buChar char="•"/>
            </a:pPr>
            <a:r>
              <a:rPr lang="en-US" sz="1050" dirty="0">
                <a:solidFill>
                  <a:srgbClr val="CADCFC"/>
                </a:solidFill>
                <a:latin typeface="Calibri" pitchFamily="34" charset="0"/>
                <a:ea typeface="Calibri" pitchFamily="34" charset="-122"/>
                <a:cs typeface="Calibri" pitchFamily="34" charset="-120"/>
              </a:rPr>
              <a:t>9 CVEs disclosed in under 3 weeks (Jan–Feb 2026)</a:t>
            </a:r>
            <a:endParaRPr lang="en-US" sz="1500" dirty="0"/>
          </a:p>
          <a:p>
            <a:pPr marL="342900" indent="-342900">
              <a:buSzPct val="100000"/>
              <a:buChar char="•"/>
            </a:pPr>
            <a:r>
              <a:rPr lang="en-US" sz="1050" dirty="0">
                <a:solidFill>
                  <a:srgbClr val="CADCFC"/>
                </a:solidFill>
                <a:latin typeface="Calibri" pitchFamily="34" charset="0"/>
                <a:ea typeface="Calibri" pitchFamily="34" charset="-122"/>
                <a:cs typeface="Calibri" pitchFamily="34" charset="-120"/>
              </a:rPr>
              <a:t>Cisco, Microsoft, and Palo Alto all issued security warnings</a:t>
            </a:r>
            <a:endParaRPr lang="en-US" sz="1500" dirty="0"/>
          </a:p>
          <a:p>
            <a:pPr indent="0" marL="0">
              <a:buNone/>
            </a:pPr>
            <a:endParaRPr lang="en-US" sz="1500" dirty="0"/>
          </a:p>
          <a:p>
            <a:pPr indent="0" marL="0">
              <a:buNone/>
            </a:pPr>
            <a:r>
              <a:rPr lang="en-US" sz="1000" i="1" dirty="0">
                <a:solidFill>
                  <a:srgbClr val="FF9999"/>
                </a:solidFill>
                <a:latin typeface="Calibri" pitchFamily="34" charset="0"/>
                <a:ea typeface="Calibri" pitchFamily="34" charset="-122"/>
                <a:cs typeface="Calibri" pitchFamily="34" charset="-120"/>
              </a:rPr>
              <a:t>Microsoft Defender: "It should be treated as untrusted code execution with persistent credentials."</a:t>
            </a:r>
            <a:endParaRPr lang="en-US" sz="1500" dirty="0"/>
          </a:p>
        </p:txBody>
      </p:sp>
      <p:sp>
        <p:nvSpPr>
          <p:cNvPr id="8" name="Shape 5"/>
          <p:cNvSpPr/>
          <p:nvPr/>
        </p:nvSpPr>
        <p:spPr>
          <a:xfrm>
            <a:off x="5943600" y="868680"/>
            <a:ext cx="2651760" cy="3977640"/>
          </a:xfrm>
          <a:prstGeom prst="rect">
            <a:avLst/>
          </a:prstGeom>
          <a:solidFill>
            <a:srgbClr val="252B54"/>
          </a:solidFill>
          <a:ln/>
          <a:effectLst>
            <a:outerShdw sx="100000" sy="100000" kx="0" ky="0" algn="bl" rotWithShape="0" blurRad="101600" dist="38100" dir="8100000">
              <a:srgbClr val="000000">
                <a:alpha val="12000"/>
              </a:srgbClr>
            </a:outerShdw>
          </a:effectLst>
        </p:spPr>
      </p:sp>
      <p:sp>
        <p:nvSpPr>
          <p:cNvPr id="9" name="Shape 6"/>
          <p:cNvSpPr/>
          <p:nvPr/>
        </p:nvSpPr>
        <p:spPr>
          <a:xfrm>
            <a:off x="5943600" y="868680"/>
            <a:ext cx="2651760" cy="54864"/>
          </a:xfrm>
          <a:prstGeom prst="rect">
            <a:avLst/>
          </a:prstGeom>
          <a:solidFill>
            <a:srgbClr val="E8A838"/>
          </a:solidFill>
          <a:ln/>
        </p:spPr>
      </p:sp>
      <p:sp>
        <p:nvSpPr>
          <p:cNvPr id="10" name="Text 7"/>
          <p:cNvSpPr/>
          <p:nvPr/>
        </p:nvSpPr>
        <p:spPr>
          <a:xfrm>
            <a:off x="6126480" y="1051560"/>
            <a:ext cx="2286000" cy="3611880"/>
          </a:xfrm>
          <a:prstGeom prst="rect">
            <a:avLst/>
          </a:prstGeom>
          <a:noFill/>
          <a:ln/>
        </p:spPr>
        <p:txBody>
          <a:bodyPr wrap="square" lIns="0" tIns="0" rIns="0" bIns="0" rtlCol="0" anchor="t"/>
          <a:lstStyle/>
          <a:p>
            <a:pPr indent="0" marL="0">
              <a:buNone/>
            </a:pPr>
            <a:r>
              <a:rPr lang="en-US" sz="1400" b="1" dirty="0">
                <a:solidFill>
                  <a:srgbClr val="E8A838"/>
                </a:solidFill>
                <a:latin typeface="Calibri" pitchFamily="34" charset="0"/>
                <a:ea typeface="Calibri" pitchFamily="34" charset="-122"/>
                <a:cs typeface="Calibri" pitchFamily="34" charset="-120"/>
              </a:rPr>
              <a:t>Why This Proves Norvig's</a:t>
            </a:r>
            <a:endParaRPr lang="en-US" sz="1400" dirty="0"/>
          </a:p>
          <a:p>
            <a:pPr indent="0" marL="0">
              <a:buNone/>
            </a:pPr>
            <a:r>
              <a:rPr lang="en-US" sz="1400" b="1" dirty="0">
                <a:solidFill>
                  <a:srgbClr val="E8A838"/>
                </a:solidFill>
                <a:latin typeface="Calibri" pitchFamily="34" charset="0"/>
                <a:ea typeface="Calibri" pitchFamily="34" charset="-122"/>
                <a:cs typeface="Calibri" pitchFamily="34" charset="-120"/>
              </a:rPr>
              <a:t>Point</a:t>
            </a:r>
            <a:endParaRPr lang="en-US" sz="1400" dirty="0"/>
          </a:p>
          <a:p>
            <a:pPr indent="0" marL="0">
              <a:buNone/>
            </a:pPr>
            <a:endParaRPr lang="en-US" sz="1400" dirty="0"/>
          </a:p>
          <a:p>
            <a:pPr indent="0" marL="0">
              <a:buNone/>
            </a:pPr>
            <a:r>
              <a:rPr lang="en-US" sz="1050" dirty="0">
                <a:solidFill>
                  <a:srgbClr val="CADCFC"/>
                </a:solidFill>
                <a:latin typeface="Calibri" pitchFamily="34" charset="0"/>
                <a:ea typeface="Calibri" pitchFamily="34" charset="-122"/>
                <a:cs typeface="Calibri" pitchFamily="34" charset="-120"/>
              </a:rPr>
              <a:t>Norvig taught that intelligent agents need:</a:t>
            </a:r>
            <a:endParaRPr lang="en-US" sz="1400" dirty="0"/>
          </a:p>
          <a:p>
            <a:pPr indent="0" marL="0">
              <a:buNone/>
            </a:pPr>
            <a:endParaRPr lang="en-US" sz="1400" dirty="0"/>
          </a:p>
          <a:p>
            <a:pPr marL="342900" indent="-342900">
              <a:buSzPct val="100000"/>
              <a:buChar char="•"/>
            </a:pPr>
            <a:r>
              <a:rPr lang="en-US" sz="1050" dirty="0">
                <a:solidFill>
                  <a:srgbClr val="CADCFC"/>
                </a:solidFill>
                <a:latin typeface="Calibri" pitchFamily="34" charset="0"/>
                <a:ea typeface="Calibri" pitchFamily="34" charset="-122"/>
                <a:cs typeface="Calibri" pitchFamily="34" charset="-120"/>
              </a:rPr>
              <a:t>Defined perception boundaries</a:t>
            </a:r>
            <a:endParaRPr lang="en-US" sz="1400" dirty="0"/>
          </a:p>
          <a:p>
            <a:pPr marL="342900" indent="-342900">
              <a:buSzPct val="100000"/>
              <a:buChar char="•"/>
            </a:pPr>
            <a:r>
              <a:rPr lang="en-US" sz="1050" dirty="0">
                <a:solidFill>
                  <a:srgbClr val="CADCFC"/>
                </a:solidFill>
                <a:latin typeface="Calibri" pitchFamily="34" charset="0"/>
                <a:ea typeface="Calibri" pitchFamily="34" charset="-122"/>
                <a:cs typeface="Calibri" pitchFamily="34" charset="-120"/>
              </a:rPr>
              <a:t>Constrained action spaces</a:t>
            </a:r>
            <a:endParaRPr lang="en-US" sz="1400" dirty="0"/>
          </a:p>
          <a:p>
            <a:pPr marL="342900" indent="-342900">
              <a:buSzPct val="100000"/>
              <a:buChar char="•"/>
            </a:pPr>
            <a:r>
              <a:rPr lang="en-US" sz="1050" dirty="0">
                <a:solidFill>
                  <a:srgbClr val="CADCFC"/>
                </a:solidFill>
                <a:latin typeface="Calibri" pitchFamily="34" charset="0"/>
                <a:ea typeface="Calibri" pitchFamily="34" charset="-122"/>
                <a:cs typeface="Calibri" pitchFamily="34" charset="-120"/>
              </a:rPr>
              <a:t>Reliable reasoning under uncertainty</a:t>
            </a:r>
            <a:endParaRPr lang="en-US" sz="1400" dirty="0"/>
          </a:p>
          <a:p>
            <a:pPr indent="0" marL="0">
              <a:buNone/>
            </a:pPr>
            <a:endParaRPr lang="en-US" sz="1400" dirty="0"/>
          </a:p>
          <a:p>
            <a:pPr indent="0" marL="0">
              <a:buNone/>
            </a:pPr>
            <a:r>
              <a:rPr lang="en-US" sz="1050" dirty="0">
                <a:solidFill>
                  <a:srgbClr val="CADCFC"/>
                </a:solidFill>
                <a:latin typeface="Calibri" pitchFamily="34" charset="0"/>
                <a:ea typeface="Calibri" pitchFamily="34" charset="-122"/>
                <a:cs typeface="Calibri" pitchFamily="34" charset="-120"/>
              </a:rPr>
              <a:t>OpenClaw violates all three. It gives agents unlimited system access, no input validation, and no sandboxing by default.</a:t>
            </a:r>
            <a:endParaRPr lang="en-US" sz="1400" dirty="0"/>
          </a:p>
          <a:p>
            <a:pPr indent="0" marL="0">
              <a:buNone/>
            </a:pPr>
            <a:endParaRPr lang="en-US" sz="1400" dirty="0"/>
          </a:p>
          <a:p>
            <a:pPr indent="0" marL="0">
              <a:buNone/>
            </a:pPr>
            <a:r>
              <a:rPr lang="en-US" sz="1050" b="1" dirty="0">
                <a:solidFill>
                  <a:srgbClr val="FF9999"/>
                </a:solidFill>
                <a:latin typeface="Calibri" pitchFamily="34" charset="0"/>
                <a:ea typeface="Calibri" pitchFamily="34" charset="-122"/>
                <a:cs typeface="Calibri" pitchFamily="34" charset="-120"/>
              </a:rPr>
              <a:t>The same small-model revolution creating opportunity also creates massive attack surfaces when deployed without the security principles Norvig's framework demands.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F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A838"/>
          </a:solidFill>
          <a:ln/>
        </p:spPr>
      </p:sp>
      <p:sp>
        <p:nvSpPr>
          <p:cNvPr id="3" name="Text 1"/>
          <p:cNvSpPr/>
          <p:nvPr/>
        </p:nvSpPr>
        <p:spPr>
          <a:xfrm>
            <a:off x="731520" y="640080"/>
            <a:ext cx="7680960"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4" name="Shape 2"/>
          <p:cNvSpPr/>
          <p:nvPr/>
        </p:nvSpPr>
        <p:spPr>
          <a:xfrm>
            <a:off x="3886200" y="1600200"/>
            <a:ext cx="1371600" cy="36576"/>
          </a:xfrm>
          <a:prstGeom prst="rect">
            <a:avLst/>
          </a:prstGeom>
          <a:solidFill>
            <a:srgbClr val="E8A838"/>
          </a:solidFill>
          <a:ln/>
        </p:spPr>
      </p:sp>
      <p:sp>
        <p:nvSpPr>
          <p:cNvPr id="5" name="Text 3"/>
          <p:cNvSpPr/>
          <p:nvPr/>
        </p:nvSpPr>
        <p:spPr>
          <a:xfrm>
            <a:off x="1371600" y="1874520"/>
            <a:ext cx="6400800" cy="2743200"/>
          </a:xfrm>
          <a:prstGeom prst="rect">
            <a:avLst/>
          </a:prstGeom>
          <a:noFill/>
          <a:ln/>
        </p:spPr>
        <p:txBody>
          <a:bodyPr wrap="square" lIns="0" tIns="0" rIns="0" bIns="0" rtlCol="0" anchor="t"/>
          <a:lstStyle/>
          <a:p>
            <a:pPr algn="ctr" indent="0" marL="0">
              <a:buNone/>
            </a:pPr>
            <a:r>
              <a:rPr lang="en-US" sz="1800" b="1" dirty="0">
                <a:solidFill>
                  <a:srgbClr val="E8A838"/>
                </a:solidFill>
                <a:latin typeface="Calibri" pitchFamily="34" charset="0"/>
                <a:ea typeface="Calibri" pitchFamily="34" charset="-122"/>
                <a:cs typeface="Calibri" pitchFamily="34" charset="-120"/>
              </a:rPr>
              <a:t>Key Takeaway</a:t>
            </a:r>
            <a:endParaRPr lang="en-US" sz="1800" dirty="0"/>
          </a:p>
          <a:p>
            <a:pPr algn="ctr" indent="0" marL="0">
              <a:buNone/>
            </a:pPr>
            <a:endParaRPr lang="en-US" sz="1800" dirty="0"/>
          </a:p>
          <a:p>
            <a:pPr algn="ctr" indent="0" marL="0">
              <a:buNone/>
            </a:pPr>
            <a:r>
              <a:rPr lang="en-US" sz="1400" dirty="0">
                <a:solidFill>
                  <a:srgbClr val="FFFFFF"/>
                </a:solidFill>
                <a:latin typeface="Calibri" pitchFamily="34" charset="0"/>
                <a:ea typeface="Calibri" pitchFamily="34" charset="-122"/>
                <a:cs typeface="Calibri" pitchFamily="34" charset="-120"/>
              </a:rPr>
              <a:t>Peter Norvig gave us the blueprint:</a:t>
            </a:r>
            <a:endParaRPr lang="en-US" sz="1800" dirty="0"/>
          </a:p>
          <a:p>
            <a:pPr algn="ctr" indent="0" marL="0">
              <a:buNone/>
            </a:pPr>
            <a:r>
              <a:rPr lang="en-US" sz="1400" i="1" dirty="0">
                <a:solidFill>
                  <a:srgbClr val="FFFFFF"/>
                </a:solidFill>
                <a:latin typeface="Calibri" pitchFamily="34" charset="0"/>
                <a:ea typeface="Calibri" pitchFamily="34" charset="-122"/>
                <a:cs typeface="Calibri" pitchFamily="34" charset="-120"/>
              </a:rPr>
              <a:t>intelligent agents, data-driven learning, and autonomous systems.</a:t>
            </a:r>
            <a:endParaRPr lang="en-US" sz="1800" dirty="0"/>
          </a:p>
          <a:p>
            <a:pPr algn="ctr" indent="0" marL="0">
              <a:buNone/>
            </a:pPr>
            <a:endParaRPr lang="en-US" sz="1800" dirty="0"/>
          </a:p>
          <a:p>
            <a:pPr algn="ctr" indent="0" marL="0">
              <a:buNone/>
            </a:pPr>
            <a:r>
              <a:rPr lang="en-US" sz="1300" dirty="0">
                <a:solidFill>
                  <a:srgbClr val="CADCFC"/>
                </a:solidFill>
                <a:latin typeface="Calibri" pitchFamily="34" charset="0"/>
                <a:ea typeface="Calibri" pitchFamily="34" charset="-122"/>
                <a:cs typeface="Calibri" pitchFamily="34" charset="-120"/>
              </a:rPr>
              <a:t>Palantir proves those ideas can defend nations.</a:t>
            </a:r>
            <a:endParaRPr lang="en-US" sz="1800" dirty="0"/>
          </a:p>
          <a:p>
            <a:pPr algn="ctr" indent="0" marL="0">
              <a:buNone/>
            </a:pPr>
            <a:r>
              <a:rPr lang="en-US" sz="1300" dirty="0">
                <a:solidFill>
                  <a:srgbClr val="CADCFC"/>
                </a:solidFill>
                <a:latin typeface="Calibri" pitchFamily="34" charset="0"/>
                <a:ea typeface="Calibri" pitchFamily="34" charset="-122"/>
                <a:cs typeface="Calibri" pitchFamily="34" charset="-120"/>
              </a:rPr>
              <a:t>OpenClaw proves what happens when you ignore the fundamentals.</a:t>
            </a:r>
            <a:endParaRPr lang="en-US" sz="1800" dirty="0"/>
          </a:p>
          <a:p>
            <a:pPr algn="ctr" indent="0" marL="0">
              <a:buNone/>
            </a:pPr>
            <a:endParaRPr lang="en-US" sz="1800" dirty="0"/>
          </a:p>
          <a:p>
            <a:pPr algn="ctr" indent="0" marL="0">
              <a:buNone/>
            </a:pPr>
            <a:r>
              <a:rPr lang="en-US" sz="1300" dirty="0">
                <a:solidFill>
                  <a:srgbClr val="CADCFC"/>
                </a:solidFill>
                <a:latin typeface="Calibri" pitchFamily="34" charset="0"/>
                <a:ea typeface="Calibri" pitchFamily="34" charset="-122"/>
                <a:cs typeface="Calibri" pitchFamily="34" charset="-120"/>
              </a:rPr>
              <a:t>As AI becomes the backbone of cybersecurity,</a:t>
            </a:r>
            <a:endParaRPr lang="en-US" sz="1800" dirty="0"/>
          </a:p>
          <a:p>
            <a:pPr algn="ctr" indent="0" marL="0">
              <a:buNone/>
            </a:pPr>
            <a:r>
              <a:rPr lang="en-US" sz="1300" b="1" dirty="0">
                <a:solidFill>
                  <a:srgbClr val="E8A838"/>
                </a:solidFill>
                <a:latin typeface="Calibri" pitchFamily="34" charset="0"/>
                <a:ea typeface="Calibri" pitchFamily="34" charset="-122"/>
                <a:cs typeface="Calibri" pitchFamily="34" charset="-120"/>
              </a:rPr>
              <a:t>Norvig's principles aren't just history. They're the playbook.</a:t>
            </a:r>
            <a:endParaRPr lang="en-US" sz="1800" dirty="0"/>
          </a:p>
        </p:txBody>
      </p:sp>
      <p:sp>
        <p:nvSpPr>
          <p:cNvPr id="6" name="Text 4"/>
          <p:cNvSpPr/>
          <p:nvPr/>
        </p:nvSpPr>
        <p:spPr>
          <a:xfrm>
            <a:off x="731520" y="4434840"/>
            <a:ext cx="7680960" cy="365760"/>
          </a:xfrm>
          <a:prstGeom prst="rect">
            <a:avLst/>
          </a:prstGeom>
          <a:noFill/>
          <a:ln/>
        </p:spPr>
        <p:txBody>
          <a:bodyPr wrap="square" lIns="0" tIns="0" rIns="0" bIns="0" rtlCol="0" anchor="ctr"/>
          <a:lstStyle/>
          <a:p>
            <a:pPr algn="ctr" indent="0" marL="0">
              <a:buNone/>
            </a:pPr>
            <a:r>
              <a:rPr lang="en-US" sz="1000" dirty="0">
                <a:solidFill>
                  <a:srgbClr val="6B7094"/>
                </a:solidFill>
                <a:latin typeface="Calibri" pitchFamily="34" charset="0"/>
                <a:ea typeface="Calibri" pitchFamily="34" charset="-122"/>
                <a:cs typeface="Calibri" pitchFamily="34" charset="-120"/>
              </a:rPr>
              <a:t>Walker  |  Northeastern University  |  Computer Science &amp; Cybersecurity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Peter Norvig &amp; Modern Cybersecurity</dc:title>
  <dc:subject>PptxGenJS Presentation</dc:subject>
  <dc:creator>Walker</dc:creator>
  <cp:lastModifiedBy>Walker</cp:lastModifiedBy>
  <cp:revision>1</cp:revision>
  <dcterms:created xsi:type="dcterms:W3CDTF">2026-03-10T11:43:33Z</dcterms:created>
  <dcterms:modified xsi:type="dcterms:W3CDTF">2026-03-10T11:43:33Z</dcterms:modified>
</cp:coreProperties>
</file>