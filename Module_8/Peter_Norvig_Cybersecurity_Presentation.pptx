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we'll look at Peter Norvig, one of the most influential figures in AI, and trace how his key contributions directly shape the cybersecurity tools and strategies we rely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Norvig is a Fellow of AAAI and ACM. His textbook AIMA, coauthored with Stuart Russell, defined how AI is taught globally by organizing everything around intelligent agents. He led NASA's Remote Agent, the first AI to autonomously control a spacecraft. At Google, his data paper argued that massive datasets beat elegant theories. He also co-taught the first mega-MOOC with Sebastian Thrun.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slide. Three direct connections: (1) Norvig's data paper is the intellectual foundation for modern AI threat detection. Companies like CrowdStrike and Palo Alto train ML models on billions of network events to catch zero days. (2) The Remote Agent's autonomous fault diagnosis and self-repair maps directly onto SOAR platforms that auto-isolate compromised endpoints. (3) AIMA's intelligent agent framework is literally the architecture for behavioral anomaly detection agents that baseline user behavior and flag deviations.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Norvig is fascinating, all tied back to cybersecurity: (1) AIMA trained the people building today's security AI. (2) He predicted that data scale would matter more than algorithm elegance, which is exactly how modern threat detection works. (3) He proved autonomous systems could work in mission-critical environments decades before SOAR platforms automated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Norvig's contributions aren't just historical. They are the intellectual and technical foundation for the AI driven cybersecurity tools we depend on right now.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731520" y="914400"/>
            <a:ext cx="7680960" cy="1188720"/>
          </a:xfrm>
          <a:prstGeom prst="rect">
            <a:avLst/>
          </a:prstGeom>
          <a:noFill/>
          <a:ln/>
        </p:spPr>
        <p:txBody>
          <a:bodyPr wrap="square" lIns="0" tIns="0" rIns="0" bIns="0" rtlCol="0" anchor="ctr"/>
          <a:lstStyle/>
          <a:p>
            <a:pPr algn="l" indent="0" marL="0">
              <a:buNone/>
            </a:pPr>
            <a:r>
              <a:rPr lang="en-US" sz="4800" b="1" dirty="0">
                <a:solidFill>
                  <a:srgbClr val="FFFFFF"/>
                </a:solidFill>
                <a:latin typeface="Georgia" pitchFamily="34" charset="0"/>
                <a:ea typeface="Georgia" pitchFamily="34" charset="-122"/>
                <a:cs typeface="Georgia" pitchFamily="34" charset="-120"/>
              </a:rPr>
              <a:t>Peter Norvig</a:t>
            </a:r>
            <a:endParaRPr lang="en-US" sz="4800" dirty="0"/>
          </a:p>
        </p:txBody>
      </p:sp>
      <p:sp>
        <p:nvSpPr>
          <p:cNvPr id="4" name="Text 2"/>
          <p:cNvSpPr/>
          <p:nvPr/>
        </p:nvSpPr>
        <p:spPr>
          <a:xfrm>
            <a:off x="731520" y="2011680"/>
            <a:ext cx="7680960" cy="640080"/>
          </a:xfrm>
          <a:prstGeom prst="rect">
            <a:avLst/>
          </a:prstGeom>
          <a:noFill/>
          <a:ln/>
        </p:spPr>
        <p:txBody>
          <a:bodyPr wrap="square" lIns="0" tIns="0" rIns="0" bIns="0" rtlCol="0" anchor="ctr"/>
          <a:lstStyle/>
          <a:p>
            <a:pPr algn="l" indent="0" marL="0">
              <a:buNone/>
            </a:pPr>
            <a:r>
              <a:rPr lang="en-US" sz="2200" dirty="0">
                <a:solidFill>
                  <a:srgbClr val="CADCFC"/>
                </a:solidFill>
                <a:latin typeface="Calibri" pitchFamily="34" charset="0"/>
                <a:ea typeface="Calibri" pitchFamily="34" charset="-122"/>
                <a:cs typeface="Calibri" pitchFamily="34" charset="-120"/>
              </a:rPr>
              <a:t>AI Pioneer &amp; His Impact on Cybersecurity</a:t>
            </a:r>
            <a:endParaRPr lang="en-US" sz="2200" dirty="0"/>
          </a:p>
        </p:txBody>
      </p:sp>
      <p:sp>
        <p:nvSpPr>
          <p:cNvPr id="5" name="Shape 3"/>
          <p:cNvSpPr/>
          <p:nvPr/>
        </p:nvSpPr>
        <p:spPr>
          <a:xfrm>
            <a:off x="731520" y="2834640"/>
            <a:ext cx="1371600" cy="36576"/>
          </a:xfrm>
          <a:prstGeom prst="rect">
            <a:avLst/>
          </a:prstGeom>
          <a:solidFill>
            <a:srgbClr val="E8A838"/>
          </a:solidFill>
          <a:ln/>
        </p:spPr>
      </p:sp>
      <p:sp>
        <p:nvSpPr>
          <p:cNvPr id="6" name="Text 4"/>
          <p:cNvSpPr/>
          <p:nvPr/>
        </p:nvSpPr>
        <p:spPr>
          <a:xfrm>
            <a:off x="731520" y="3063240"/>
            <a:ext cx="7680960" cy="457200"/>
          </a:xfrm>
          <a:prstGeom prst="rect">
            <a:avLst/>
          </a:prstGeom>
          <a:noFill/>
          <a:ln/>
        </p:spPr>
        <p:txBody>
          <a:bodyPr wrap="square" lIns="0" tIns="0" rIns="0" bIns="0" rtlCol="0" anchor="ctr"/>
          <a:lstStyle/>
          <a:p>
            <a:pPr algn="l" indent="0" marL="0">
              <a:buNone/>
            </a:pPr>
            <a:r>
              <a:rPr lang="en-US" sz="1400" i="1" dirty="0">
                <a:solidFill>
                  <a:srgbClr val="8B92B8"/>
                </a:solidFill>
                <a:latin typeface="Calibri" pitchFamily="34" charset="0"/>
                <a:ea typeface="Calibri" pitchFamily="34" charset="-122"/>
                <a:cs typeface="Calibri" pitchFamily="34" charset="-120"/>
              </a:rPr>
              <a:t>How One Researcher's Work Shapes Modern Cyber Defense</a:t>
            </a:r>
            <a:endParaRPr lang="en-US" sz="1400" dirty="0"/>
          </a:p>
        </p:txBody>
      </p:sp>
      <p:pic>
        <p:nvPicPr>
          <p:cNvPr id="7" name="Image 0" descr="preencoded.png">    </p:cNvPr>
          <p:cNvPicPr>
            <a:picLocks noChangeAspect="1"/>
          </p:cNvPicPr>
          <p:nvPr/>
        </p:nvPicPr>
        <p:blipFill>
          <a:blip r:embed="rId1"/>
          <a:stretch>
            <a:fillRect/>
          </a:stretch>
        </p:blipFill>
        <p:spPr>
          <a:xfrm>
            <a:off x="2560320" y="3931920"/>
            <a:ext cx="411480" cy="411480"/>
          </a:xfrm>
          <a:prstGeom prst="rect">
            <a:avLst/>
          </a:prstGeom>
        </p:spPr>
      </p:pic>
      <p:pic>
        <p:nvPicPr>
          <p:cNvPr id="8" name="Image 1" descr="preencoded.png">    </p:cNvPr>
          <p:cNvPicPr>
            <a:picLocks noChangeAspect="1"/>
          </p:cNvPicPr>
          <p:nvPr/>
        </p:nvPicPr>
        <p:blipFill>
          <a:blip r:embed="rId2"/>
          <a:stretch>
            <a:fillRect/>
          </a:stretch>
        </p:blipFill>
        <p:spPr>
          <a:xfrm>
            <a:off x="4343400" y="3931920"/>
            <a:ext cx="411480" cy="411480"/>
          </a:xfrm>
          <a:prstGeom prst="rect">
            <a:avLst/>
          </a:prstGeom>
        </p:spPr>
      </p:pic>
      <p:pic>
        <p:nvPicPr>
          <p:cNvPr id="9" name="Image 2" descr="preencoded.png">    </p:cNvPr>
          <p:cNvPicPr>
            <a:picLocks noChangeAspect="1"/>
          </p:cNvPicPr>
          <p:nvPr/>
        </p:nvPicPr>
        <p:blipFill>
          <a:blip r:embed="rId3"/>
          <a:stretch>
            <a:fillRect/>
          </a:stretch>
        </p:blipFill>
        <p:spPr>
          <a:xfrm>
            <a:off x="6126480" y="3931920"/>
            <a:ext cx="411480" cy="411480"/>
          </a:xfrm>
          <a:prstGeom prst="rect">
            <a:avLst/>
          </a:prstGeom>
        </p:spPr>
      </p:pic>
      <p:sp>
        <p:nvSpPr>
          <p:cNvPr id="10" name="Text 5"/>
          <p:cNvSpPr/>
          <p:nvPr/>
        </p:nvSpPr>
        <p:spPr>
          <a:xfrm>
            <a:off x="731520" y="4526280"/>
            <a:ext cx="7680960" cy="365760"/>
          </a:xfrm>
          <a:prstGeom prst="rect">
            <a:avLst/>
          </a:prstGeom>
          <a:noFill/>
          <a:ln/>
        </p:spPr>
        <p:txBody>
          <a:bodyPr wrap="square" lIns="0" tIns="0" rIns="0" bIns="0" rtlCol="0" anchor="ctr"/>
          <a:lstStyle/>
          <a:p>
            <a:pPr algn="ctr" indent="0" marL="0">
              <a:buNone/>
            </a:pPr>
            <a:r>
              <a:rPr lang="en-US" sz="1100" dirty="0">
                <a:solidFill>
                  <a:srgbClr val="6B7094"/>
                </a:solidFill>
                <a:latin typeface="Calibri" pitchFamily="34" charset="0"/>
                <a:ea typeface="Calibri" pitchFamily="34" charset="-122"/>
                <a:cs typeface="Calibri" pitchFamily="34" charset="-120"/>
              </a:rPr>
              <a:t>Walker  |  Northeastern University  |  Computer Science &amp; Cybersecurity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548640" y="228600"/>
            <a:ext cx="8046720" cy="594360"/>
          </a:xfrm>
          <a:prstGeom prst="rect">
            <a:avLst/>
          </a:prstGeom>
          <a:noFill/>
          <a:ln/>
        </p:spPr>
        <p:txBody>
          <a:bodyPr wrap="square" lIns="0" tIns="0" rIns="0" bIns="0" rtlCol="0" anchor="ctr"/>
          <a:lstStyle/>
          <a:p>
            <a:pPr indent="0" marL="0">
              <a:buNone/>
            </a:pPr>
            <a:r>
              <a:rPr lang="en-US" sz="3200" b="1" dirty="0">
                <a:solidFill>
                  <a:srgbClr val="1A1F3D"/>
                </a:solidFill>
                <a:latin typeface="Georgia" pitchFamily="34" charset="0"/>
                <a:ea typeface="Georgia" pitchFamily="34" charset="-122"/>
                <a:cs typeface="Georgia" pitchFamily="34" charset="-120"/>
              </a:rPr>
              <a:t>Who Is Peter Norvig?</a:t>
            </a:r>
            <a:endParaRPr lang="en-US" sz="3200" dirty="0"/>
          </a:p>
        </p:txBody>
      </p:sp>
      <p:sp>
        <p:nvSpPr>
          <p:cNvPr id="4" name="Shape 2"/>
          <p:cNvSpPr/>
          <p:nvPr/>
        </p:nvSpPr>
        <p:spPr>
          <a:xfrm>
            <a:off x="548640" y="1005840"/>
            <a:ext cx="3931920" cy="3749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548640" y="1005840"/>
            <a:ext cx="64008" cy="3749040"/>
          </a:xfrm>
          <a:prstGeom prst="rect">
            <a:avLst/>
          </a:prstGeom>
          <a:solidFill>
            <a:srgbClr val="E8A838"/>
          </a:solidFill>
          <a:ln/>
        </p:spPr>
      </p:sp>
      <p:sp>
        <p:nvSpPr>
          <p:cNvPr id="6" name="Text 4"/>
          <p:cNvSpPr/>
          <p:nvPr/>
        </p:nvSpPr>
        <p:spPr>
          <a:xfrm>
            <a:off x="914400" y="1143000"/>
            <a:ext cx="3337560" cy="3474720"/>
          </a:xfrm>
          <a:prstGeom prst="rect">
            <a:avLst/>
          </a:prstGeom>
          <a:noFill/>
          <a:ln/>
        </p:spPr>
        <p:txBody>
          <a:bodyPr wrap="square" lIns="0" tIns="0" rIns="0" bIns="0" rtlCol="0" anchor="t"/>
          <a:lstStyle/>
          <a:p>
            <a:pPr indent="0" marL="0">
              <a:buNone/>
            </a:pPr>
            <a:r>
              <a:rPr lang="en-US" sz="1400" b="1" dirty="0">
                <a:solidFill>
                  <a:srgbClr val="E8A838"/>
                </a:solidFill>
                <a:latin typeface="Calibri" pitchFamily="34" charset="0"/>
                <a:ea typeface="Calibri" pitchFamily="34" charset="-122"/>
                <a:cs typeface="Calibri" pitchFamily="34" charset="-120"/>
              </a:rPr>
              <a:t>Background</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Ph.D. Computer Science, UC Berkeley (1986)</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B.S. Applied Mathematics, Brown University</a:t>
            </a:r>
            <a:endParaRPr lang="en-US" sz="1400" dirty="0"/>
          </a:p>
          <a:p>
            <a:pPr indent="0" marL="0">
              <a:buNone/>
            </a:pPr>
            <a:endParaRPr lang="en-US" sz="1400" dirty="0"/>
          </a:p>
          <a:p>
            <a:pPr indent="0" marL="0">
              <a:buNone/>
            </a:pPr>
            <a:r>
              <a:rPr lang="en-US" sz="1400" b="1" dirty="0">
                <a:solidFill>
                  <a:srgbClr val="E8A838"/>
                </a:solidFill>
                <a:latin typeface="Calibri" pitchFamily="34" charset="0"/>
                <a:ea typeface="Calibri" pitchFamily="34" charset="-122"/>
                <a:cs typeface="Calibri" pitchFamily="34" charset="-120"/>
              </a:rPr>
              <a:t>Career Highlights</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Head of Computational Sciences, NASA Ames</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Director of Research, Google (2001–2021)</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Distinguished Fellow, Stanford HAI (current)</a:t>
            </a:r>
            <a:endParaRPr lang="en-US" sz="1400" dirty="0"/>
          </a:p>
          <a:p>
            <a:pPr indent="0" marL="0">
              <a:buNone/>
            </a:pPr>
            <a:endParaRPr lang="en-US" sz="1400" dirty="0"/>
          </a:p>
          <a:p>
            <a:pPr indent="0" marL="0">
              <a:buNone/>
            </a:pPr>
            <a:r>
              <a:rPr lang="en-US" sz="1400" b="1" dirty="0">
                <a:solidFill>
                  <a:srgbClr val="E8A838"/>
                </a:solidFill>
                <a:latin typeface="Calibri" pitchFamily="34" charset="0"/>
                <a:ea typeface="Calibri" pitchFamily="34" charset="-122"/>
                <a:cs typeface="Calibri" pitchFamily="34" charset="-120"/>
              </a:rPr>
              <a:t>Key Works</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AI: A Modern Approach (1,500+ universities, 135 countries)</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NASA Remote Agent (first autonomous spacecraft AI)</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"The Unreasonable Effectiveness of Data" (IEEE, 2009)</a:t>
            </a:r>
            <a:endParaRPr lang="en-US" sz="14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First massive AI MOOC (160,000+ students, 2011)</a:t>
            </a:r>
            <a:endParaRPr lang="en-US" sz="1400" dirty="0"/>
          </a:p>
        </p:txBody>
      </p:sp>
      <p:sp>
        <p:nvSpPr>
          <p:cNvPr id="7" name="Shape 5"/>
          <p:cNvSpPr/>
          <p:nvPr/>
        </p:nvSpPr>
        <p:spPr>
          <a:xfrm>
            <a:off x="4846320" y="1005840"/>
            <a:ext cx="374904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6"/>
          <p:cNvSpPr/>
          <p:nvPr/>
        </p:nvSpPr>
        <p:spPr>
          <a:xfrm>
            <a:off x="4937760" y="1097280"/>
            <a:ext cx="1554480" cy="914400"/>
          </a:xfrm>
          <a:prstGeom prst="rect">
            <a:avLst/>
          </a:prstGeom>
          <a:noFill/>
          <a:ln/>
        </p:spPr>
        <p:txBody>
          <a:bodyPr wrap="square" lIns="0" tIns="0" rIns="0" bIns="0" rtlCol="0" anchor="ctr"/>
          <a:lstStyle/>
          <a:p>
            <a:pPr algn="ctr" indent="0" marL="0">
              <a:buNone/>
            </a:pPr>
            <a:r>
              <a:rPr lang="en-US" sz="2800" b="1" dirty="0">
                <a:solidFill>
                  <a:srgbClr val="E8A838"/>
                </a:solidFill>
                <a:latin typeface="Georgia" pitchFamily="34" charset="0"/>
                <a:ea typeface="Georgia" pitchFamily="34" charset="-122"/>
                <a:cs typeface="Georgia" pitchFamily="34" charset="-120"/>
              </a:rPr>
              <a:t>500K+</a:t>
            </a:r>
            <a:endParaRPr lang="en-US" sz="2800" dirty="0"/>
          </a:p>
        </p:txBody>
      </p:sp>
      <p:sp>
        <p:nvSpPr>
          <p:cNvPr id="9" name="Text 7"/>
          <p:cNvSpPr/>
          <p:nvPr/>
        </p:nvSpPr>
        <p:spPr>
          <a:xfrm>
            <a:off x="6492240" y="1097280"/>
            <a:ext cx="1965960" cy="914400"/>
          </a:xfrm>
          <a:prstGeom prst="rect">
            <a:avLst/>
          </a:prstGeom>
          <a:noFill/>
          <a:ln/>
        </p:spPr>
        <p:txBody>
          <a:bodyPr wrap="square" lIns="0" tIns="0" rIns="0" bIns="0" rtlCol="0" anchor="ctr"/>
          <a:lstStyle/>
          <a:p>
            <a:pPr algn="l" indent="0" marL="0">
              <a:buNone/>
            </a:pPr>
            <a:r>
              <a:rPr lang="en-US" sz="1100" dirty="0">
                <a:solidFill>
                  <a:srgbClr val="2C3050"/>
                </a:solidFill>
                <a:latin typeface="Calibri" pitchFamily="34" charset="0"/>
                <a:ea typeface="Calibri" pitchFamily="34" charset="-122"/>
                <a:cs typeface="Calibri" pitchFamily="34" charset="-120"/>
              </a:rPr>
              <a:t>Copies of AIMA sold</a:t>
            </a:r>
            <a:endParaRPr lang="en-US" sz="1100" dirty="0"/>
          </a:p>
          <a:p>
            <a:pPr algn="l" indent="0" marL="0">
              <a:buNone/>
            </a:pPr>
            <a:r>
              <a:rPr lang="en-US" sz="1100" dirty="0">
                <a:solidFill>
                  <a:srgbClr val="2C3050"/>
                </a:solidFill>
                <a:latin typeface="Calibri" pitchFamily="34" charset="0"/>
                <a:ea typeface="Calibri" pitchFamily="34" charset="-122"/>
                <a:cs typeface="Calibri" pitchFamily="34" charset="-120"/>
              </a:rPr>
              <a:t>across 4 editions since 1995</a:t>
            </a:r>
            <a:endParaRPr lang="en-US" sz="1100" dirty="0"/>
          </a:p>
        </p:txBody>
      </p:sp>
      <p:sp>
        <p:nvSpPr>
          <p:cNvPr id="10" name="Shape 8"/>
          <p:cNvSpPr/>
          <p:nvPr/>
        </p:nvSpPr>
        <p:spPr>
          <a:xfrm>
            <a:off x="4846320" y="2331720"/>
            <a:ext cx="374904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4937760" y="2423160"/>
            <a:ext cx="1554480" cy="914400"/>
          </a:xfrm>
          <a:prstGeom prst="rect">
            <a:avLst/>
          </a:prstGeom>
          <a:noFill/>
          <a:ln/>
        </p:spPr>
        <p:txBody>
          <a:bodyPr wrap="square" lIns="0" tIns="0" rIns="0" bIns="0" rtlCol="0" anchor="ctr"/>
          <a:lstStyle/>
          <a:p>
            <a:pPr algn="ctr" indent="0" marL="0">
              <a:buNone/>
            </a:pPr>
            <a:r>
              <a:rPr lang="en-US" sz="2800" b="1" dirty="0">
                <a:solidFill>
                  <a:srgbClr val="E8A838"/>
                </a:solidFill>
                <a:latin typeface="Georgia" pitchFamily="34" charset="0"/>
                <a:ea typeface="Georgia" pitchFamily="34" charset="-122"/>
                <a:cs typeface="Georgia" pitchFamily="34" charset="-120"/>
              </a:rPr>
              <a:t>1,600+</a:t>
            </a:r>
            <a:endParaRPr lang="en-US" sz="2800" dirty="0"/>
          </a:p>
        </p:txBody>
      </p:sp>
      <p:sp>
        <p:nvSpPr>
          <p:cNvPr id="12" name="Text 10"/>
          <p:cNvSpPr/>
          <p:nvPr/>
        </p:nvSpPr>
        <p:spPr>
          <a:xfrm>
            <a:off x="6492240" y="2423160"/>
            <a:ext cx="1965960" cy="914400"/>
          </a:xfrm>
          <a:prstGeom prst="rect">
            <a:avLst/>
          </a:prstGeom>
          <a:noFill/>
          <a:ln/>
        </p:spPr>
        <p:txBody>
          <a:bodyPr wrap="square" lIns="0" tIns="0" rIns="0" bIns="0" rtlCol="0" anchor="ctr"/>
          <a:lstStyle/>
          <a:p>
            <a:pPr algn="l" indent="0" marL="0">
              <a:buNone/>
            </a:pPr>
            <a:r>
              <a:rPr lang="en-US" sz="1100" dirty="0">
                <a:solidFill>
                  <a:srgbClr val="2C3050"/>
                </a:solidFill>
                <a:latin typeface="Calibri" pitchFamily="34" charset="0"/>
                <a:ea typeface="Calibri" pitchFamily="34" charset="-122"/>
                <a:cs typeface="Calibri" pitchFamily="34" charset="-120"/>
              </a:rPr>
              <a:t>Citations on his 2009 data</a:t>
            </a:r>
            <a:endParaRPr lang="en-US" sz="1100" dirty="0"/>
          </a:p>
          <a:p>
            <a:pPr algn="l" indent="0" marL="0">
              <a:buNone/>
            </a:pPr>
            <a:r>
              <a:rPr lang="en-US" sz="1100" dirty="0">
                <a:solidFill>
                  <a:srgbClr val="2C3050"/>
                </a:solidFill>
                <a:latin typeface="Calibri" pitchFamily="34" charset="0"/>
                <a:ea typeface="Calibri" pitchFamily="34" charset="-122"/>
                <a:cs typeface="Calibri" pitchFamily="34" charset="-120"/>
              </a:rPr>
              <a:t>paper in IEEE Intelligent Systems</a:t>
            </a:r>
            <a:endParaRPr lang="en-US" sz="1100" dirty="0"/>
          </a:p>
        </p:txBody>
      </p:sp>
      <p:sp>
        <p:nvSpPr>
          <p:cNvPr id="13" name="Shape 11"/>
          <p:cNvSpPr/>
          <p:nvPr/>
        </p:nvSpPr>
        <p:spPr>
          <a:xfrm>
            <a:off x="4846320" y="3657600"/>
            <a:ext cx="374904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Text 12"/>
          <p:cNvSpPr/>
          <p:nvPr/>
        </p:nvSpPr>
        <p:spPr>
          <a:xfrm>
            <a:off x="4937760" y="3749040"/>
            <a:ext cx="1554480" cy="914400"/>
          </a:xfrm>
          <a:prstGeom prst="rect">
            <a:avLst/>
          </a:prstGeom>
          <a:noFill/>
          <a:ln/>
        </p:spPr>
        <p:txBody>
          <a:bodyPr wrap="square" lIns="0" tIns="0" rIns="0" bIns="0" rtlCol="0" anchor="ctr"/>
          <a:lstStyle/>
          <a:p>
            <a:pPr algn="ctr" indent="0" marL="0">
              <a:buNone/>
            </a:pPr>
            <a:r>
              <a:rPr lang="en-US" sz="2800" b="1" dirty="0">
                <a:solidFill>
                  <a:srgbClr val="E8A838"/>
                </a:solidFill>
                <a:latin typeface="Georgia" pitchFamily="34" charset="0"/>
                <a:ea typeface="Georgia" pitchFamily="34" charset="-122"/>
                <a:cs typeface="Georgia" pitchFamily="34" charset="-120"/>
              </a:rPr>
              <a:t>48K+</a:t>
            </a:r>
            <a:endParaRPr lang="en-US" sz="2800" dirty="0"/>
          </a:p>
        </p:txBody>
      </p:sp>
      <p:sp>
        <p:nvSpPr>
          <p:cNvPr id="15" name="Text 13"/>
          <p:cNvSpPr/>
          <p:nvPr/>
        </p:nvSpPr>
        <p:spPr>
          <a:xfrm>
            <a:off x="6492240" y="3749040"/>
            <a:ext cx="1965960" cy="914400"/>
          </a:xfrm>
          <a:prstGeom prst="rect">
            <a:avLst/>
          </a:prstGeom>
          <a:noFill/>
          <a:ln/>
        </p:spPr>
        <p:txBody>
          <a:bodyPr wrap="square" lIns="0" tIns="0" rIns="0" bIns="0" rtlCol="0" anchor="ctr"/>
          <a:lstStyle/>
          <a:p>
            <a:pPr algn="l" indent="0" marL="0">
              <a:buNone/>
            </a:pPr>
            <a:r>
              <a:rPr lang="en-US" sz="1100" dirty="0">
                <a:solidFill>
                  <a:srgbClr val="2C3050"/>
                </a:solidFill>
                <a:latin typeface="Calibri" pitchFamily="34" charset="0"/>
                <a:ea typeface="Calibri" pitchFamily="34" charset="-122"/>
                <a:cs typeface="Calibri" pitchFamily="34" charset="-120"/>
              </a:rPr>
              <a:t>Academic citations of AIMA,</a:t>
            </a:r>
            <a:endParaRPr lang="en-US" sz="1100" dirty="0"/>
          </a:p>
          <a:p>
            <a:pPr algn="l" indent="0" marL="0">
              <a:buNone/>
            </a:pPr>
            <a:r>
              <a:rPr lang="en-US" sz="1100" dirty="0">
                <a:solidFill>
                  <a:srgbClr val="2C3050"/>
                </a:solidFill>
                <a:latin typeface="Calibri" pitchFamily="34" charset="0"/>
                <a:ea typeface="Calibri" pitchFamily="34" charset="-122"/>
                <a:cs typeface="Calibri" pitchFamily="34" charset="-120"/>
              </a:rPr>
              <a:t>ranked Top 10 in CS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28600"/>
            <a:ext cx="411480" cy="411480"/>
          </a:xfrm>
          <a:prstGeom prst="rect">
            <a:avLst/>
          </a:prstGeom>
        </p:spPr>
      </p:pic>
      <p:sp>
        <p:nvSpPr>
          <p:cNvPr id="4" name="Text 1"/>
          <p:cNvSpPr/>
          <p:nvPr/>
        </p:nvSpPr>
        <p:spPr>
          <a:xfrm>
            <a:off x="1097280" y="228600"/>
            <a:ext cx="7498080" cy="548640"/>
          </a:xfrm>
          <a:prstGeom prst="rect">
            <a:avLst/>
          </a:prstGeom>
          <a:noFill/>
          <a:ln/>
        </p:spPr>
        <p:txBody>
          <a:bodyPr wrap="square" lIns="0" tIns="0" rIns="0" bIns="0" rtlCol="0" anchor="ctr"/>
          <a:lstStyle/>
          <a:p>
            <a:pPr indent="0" marL="0">
              <a:buNone/>
            </a:pPr>
            <a:r>
              <a:rPr lang="en-US" sz="2800" b="1" dirty="0">
                <a:solidFill>
                  <a:srgbClr val="1A1F3D"/>
                </a:solidFill>
                <a:latin typeface="Georgia" pitchFamily="34" charset="0"/>
                <a:ea typeface="Georgia" pitchFamily="34" charset="-122"/>
                <a:cs typeface="Georgia" pitchFamily="34" charset="-120"/>
              </a:rPr>
              <a:t>Direct Impact on Cybersecurity</a:t>
            </a:r>
            <a:endParaRPr lang="en-US" sz="2800" dirty="0"/>
          </a:p>
        </p:txBody>
      </p:sp>
      <p:sp>
        <p:nvSpPr>
          <p:cNvPr id="5" name="Shape 2"/>
          <p:cNvSpPr/>
          <p:nvPr/>
        </p:nvSpPr>
        <p:spPr>
          <a:xfrm>
            <a:off x="548640" y="1005840"/>
            <a:ext cx="365760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1005840"/>
            <a:ext cx="64008" cy="1188720"/>
          </a:xfrm>
          <a:prstGeom prst="rect">
            <a:avLst/>
          </a:prstGeom>
          <a:solidFill>
            <a:srgbClr val="E8A838"/>
          </a:solidFill>
          <a:ln/>
        </p:spPr>
      </p:sp>
      <p:pic>
        <p:nvPicPr>
          <p:cNvPr id="7" name="Image 1" descr="preencoded.png">    </p:cNvPr>
          <p:cNvPicPr>
            <a:picLocks noChangeAspect="1"/>
          </p:cNvPicPr>
          <p:nvPr/>
        </p:nvPicPr>
        <p:blipFill>
          <a:blip r:embed="rId2"/>
          <a:stretch>
            <a:fillRect/>
          </a:stretch>
        </p:blipFill>
        <p:spPr>
          <a:xfrm>
            <a:off x="731520" y="1115568"/>
            <a:ext cx="274320" cy="274320"/>
          </a:xfrm>
          <a:prstGeom prst="rect">
            <a:avLst/>
          </a:prstGeom>
        </p:spPr>
      </p:pic>
      <p:sp>
        <p:nvSpPr>
          <p:cNvPr id="8" name="Text 4"/>
          <p:cNvSpPr/>
          <p:nvPr/>
        </p:nvSpPr>
        <p:spPr>
          <a:xfrm>
            <a:off x="1097280" y="1078992"/>
            <a:ext cx="2880360" cy="320040"/>
          </a:xfrm>
          <a:prstGeom prst="rect">
            <a:avLst/>
          </a:prstGeom>
          <a:noFill/>
          <a:ln/>
        </p:spPr>
        <p:txBody>
          <a:bodyPr wrap="square" lIns="0" tIns="0" rIns="0" bIns="0" rtlCol="0" anchor="ctr"/>
          <a:lstStyle/>
          <a:p>
            <a:pPr indent="0" marL="0">
              <a:buNone/>
            </a:pPr>
            <a:r>
              <a:rPr lang="en-US" sz="1100" b="1" dirty="0">
                <a:solidFill>
                  <a:srgbClr val="1A1F3D"/>
                </a:solidFill>
                <a:latin typeface="Calibri" pitchFamily="34" charset="0"/>
                <a:ea typeface="Calibri" pitchFamily="34" charset="-122"/>
                <a:cs typeface="Calibri" pitchFamily="34" charset="-120"/>
              </a:rPr>
              <a:t>"Unreasonable Effectiveness of Data"</a:t>
            </a:r>
            <a:endParaRPr lang="en-US" sz="1100" dirty="0"/>
          </a:p>
        </p:txBody>
      </p:sp>
      <p:sp>
        <p:nvSpPr>
          <p:cNvPr id="9" name="Text 5"/>
          <p:cNvSpPr/>
          <p:nvPr/>
        </p:nvSpPr>
        <p:spPr>
          <a:xfrm>
            <a:off x="777240" y="1444752"/>
            <a:ext cx="3200400" cy="640080"/>
          </a:xfrm>
          <a:prstGeom prst="rect">
            <a:avLst/>
          </a:prstGeom>
          <a:noFill/>
          <a:ln/>
        </p:spPr>
        <p:txBody>
          <a:bodyPr wrap="square" lIns="0" tIns="0" rIns="0" bIns="0" rtlCol="0" anchor="ctr"/>
          <a:lstStyle/>
          <a:p>
            <a:pPr indent="0" marL="0">
              <a:buNone/>
            </a:pPr>
            <a:r>
              <a:rPr lang="en-US" sz="1000" dirty="0">
                <a:solidFill>
                  <a:srgbClr val="6B7094"/>
                </a:solidFill>
                <a:latin typeface="Calibri" pitchFamily="34" charset="0"/>
                <a:ea typeface="Calibri" pitchFamily="34" charset="-122"/>
                <a:cs typeface="Calibri" pitchFamily="34" charset="-120"/>
              </a:rPr>
              <a:t>Simple models + massive data outperform complex models with limited data</a:t>
            </a:r>
            <a:endParaRPr lang="en-US" sz="1000" dirty="0"/>
          </a:p>
        </p:txBody>
      </p:sp>
      <p:sp>
        <p:nvSpPr>
          <p:cNvPr id="10" name="Text 6"/>
          <p:cNvSpPr/>
          <p:nvPr/>
        </p:nvSpPr>
        <p:spPr>
          <a:xfrm>
            <a:off x="4251960" y="1143000"/>
            <a:ext cx="457200" cy="914400"/>
          </a:xfrm>
          <a:prstGeom prst="rect">
            <a:avLst/>
          </a:prstGeom>
          <a:noFill/>
          <a:ln/>
        </p:spPr>
        <p:txBody>
          <a:bodyPr wrap="square" lIns="0" tIns="0" rIns="0" bIns="0" rtlCol="0" anchor="ctr"/>
          <a:lstStyle/>
          <a:p>
            <a:pPr algn="ctr" indent="0" marL="0">
              <a:buNone/>
            </a:pPr>
            <a:r>
              <a:rPr lang="en-US" sz="2200" dirty="0">
                <a:solidFill>
                  <a:srgbClr val="E8A838"/>
                </a:solidFill>
                <a:latin typeface="Calibri" pitchFamily="34" charset="0"/>
                <a:ea typeface="Calibri" pitchFamily="34" charset="-122"/>
                <a:cs typeface="Calibri" pitchFamily="34" charset="-120"/>
              </a:rPr>
              <a:t>➤</a:t>
            </a:r>
            <a:endParaRPr lang="en-US" sz="2200" dirty="0"/>
          </a:p>
        </p:txBody>
      </p:sp>
      <p:sp>
        <p:nvSpPr>
          <p:cNvPr id="11" name="Shape 7"/>
          <p:cNvSpPr/>
          <p:nvPr/>
        </p:nvSpPr>
        <p:spPr>
          <a:xfrm>
            <a:off x="4754880" y="1005840"/>
            <a:ext cx="3840480" cy="1188720"/>
          </a:xfrm>
          <a:prstGeom prst="rect">
            <a:avLst/>
          </a:prstGeom>
          <a:solidFill>
            <a:srgbClr val="252B54"/>
          </a:solidFill>
          <a:ln/>
          <a:effectLst>
            <a:outerShdw sx="100000" sy="100000" kx="0" ky="0" algn="bl" rotWithShape="0" blurRad="101600" dist="38100" dir="8100000">
              <a:srgbClr val="000000">
                <a:alpha val="12000"/>
              </a:srgbClr>
            </a:outerShdw>
          </a:effectLst>
        </p:spPr>
      </p:sp>
      <p:pic>
        <p:nvPicPr>
          <p:cNvPr id="12" name="Image 2" descr="preencoded.png">    </p:cNvPr>
          <p:cNvPicPr>
            <a:picLocks noChangeAspect="1"/>
          </p:cNvPicPr>
          <p:nvPr/>
        </p:nvPicPr>
        <p:blipFill>
          <a:blip r:embed="rId3"/>
          <a:stretch>
            <a:fillRect/>
          </a:stretch>
        </p:blipFill>
        <p:spPr>
          <a:xfrm>
            <a:off x="4937760" y="1115568"/>
            <a:ext cx="256032" cy="256032"/>
          </a:xfrm>
          <a:prstGeom prst="rect">
            <a:avLst/>
          </a:prstGeom>
        </p:spPr>
      </p:pic>
      <p:sp>
        <p:nvSpPr>
          <p:cNvPr id="13" name="Text 8"/>
          <p:cNvSpPr/>
          <p:nvPr/>
        </p:nvSpPr>
        <p:spPr>
          <a:xfrm>
            <a:off x="5257800" y="1078992"/>
            <a:ext cx="3108960" cy="320040"/>
          </a:xfrm>
          <a:prstGeom prst="rect">
            <a:avLst/>
          </a:prstGeom>
          <a:noFill/>
          <a:ln/>
        </p:spPr>
        <p:txBody>
          <a:bodyPr wrap="square" lIns="0" tIns="0" rIns="0" bIns="0" rtlCol="0" anchor="ctr"/>
          <a:lstStyle/>
          <a:p>
            <a:pPr indent="0" marL="0">
              <a:buNone/>
            </a:pPr>
            <a:r>
              <a:rPr lang="en-US" sz="1200" b="1" dirty="0">
                <a:solidFill>
                  <a:srgbClr val="E8A838"/>
                </a:solidFill>
                <a:latin typeface="Calibri" pitchFamily="34" charset="0"/>
                <a:ea typeface="Calibri" pitchFamily="34" charset="-122"/>
                <a:cs typeface="Calibri" pitchFamily="34" charset="-120"/>
              </a:rPr>
              <a:t>AI Threat Detection</a:t>
            </a:r>
            <a:endParaRPr lang="en-US" sz="1200" dirty="0"/>
          </a:p>
        </p:txBody>
      </p:sp>
      <p:sp>
        <p:nvSpPr>
          <p:cNvPr id="14" name="Text 9"/>
          <p:cNvSpPr/>
          <p:nvPr/>
        </p:nvSpPr>
        <p:spPr>
          <a:xfrm>
            <a:off x="4937760" y="1417320"/>
            <a:ext cx="3474720" cy="71323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Modern IDS/IPS systems use ML trained on massive network traffic datasets to detect zero day exploits and anomalous behavior. Palo Alto and CrowdStrike train models on billions of events daily, applying exactly the principle Norvig articulated in 2009.</a:t>
            </a:r>
            <a:endParaRPr lang="en-US" sz="950" dirty="0"/>
          </a:p>
        </p:txBody>
      </p:sp>
      <p:sp>
        <p:nvSpPr>
          <p:cNvPr id="15" name="Shape 10"/>
          <p:cNvSpPr/>
          <p:nvPr/>
        </p:nvSpPr>
        <p:spPr>
          <a:xfrm>
            <a:off x="548640" y="2423160"/>
            <a:ext cx="365760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1"/>
          <p:cNvSpPr/>
          <p:nvPr/>
        </p:nvSpPr>
        <p:spPr>
          <a:xfrm>
            <a:off x="548640" y="2423160"/>
            <a:ext cx="64008" cy="1188720"/>
          </a:xfrm>
          <a:prstGeom prst="rect">
            <a:avLst/>
          </a:prstGeom>
          <a:solidFill>
            <a:srgbClr val="E8A838"/>
          </a:solidFill>
          <a:ln/>
        </p:spPr>
      </p:sp>
      <p:pic>
        <p:nvPicPr>
          <p:cNvPr id="17" name="Image 3" descr="preencoded.png">    </p:cNvPr>
          <p:cNvPicPr>
            <a:picLocks noChangeAspect="1"/>
          </p:cNvPicPr>
          <p:nvPr/>
        </p:nvPicPr>
        <p:blipFill>
          <a:blip r:embed="rId4"/>
          <a:stretch>
            <a:fillRect/>
          </a:stretch>
        </p:blipFill>
        <p:spPr>
          <a:xfrm>
            <a:off x="731520" y="2532888"/>
            <a:ext cx="274320" cy="274320"/>
          </a:xfrm>
          <a:prstGeom prst="rect">
            <a:avLst/>
          </a:prstGeom>
        </p:spPr>
      </p:pic>
      <p:sp>
        <p:nvSpPr>
          <p:cNvPr id="18" name="Text 12"/>
          <p:cNvSpPr/>
          <p:nvPr/>
        </p:nvSpPr>
        <p:spPr>
          <a:xfrm>
            <a:off x="1097280" y="2496312"/>
            <a:ext cx="2880360" cy="320040"/>
          </a:xfrm>
          <a:prstGeom prst="rect">
            <a:avLst/>
          </a:prstGeom>
          <a:noFill/>
          <a:ln/>
        </p:spPr>
        <p:txBody>
          <a:bodyPr wrap="square" lIns="0" tIns="0" rIns="0" bIns="0" rtlCol="0" anchor="ctr"/>
          <a:lstStyle/>
          <a:p>
            <a:pPr indent="0" marL="0">
              <a:buNone/>
            </a:pPr>
            <a:r>
              <a:rPr lang="en-US" sz="1100" b="1" dirty="0">
                <a:solidFill>
                  <a:srgbClr val="1A1F3D"/>
                </a:solidFill>
                <a:latin typeface="Calibri" pitchFamily="34" charset="0"/>
                <a:ea typeface="Calibri" pitchFamily="34" charset="-122"/>
                <a:cs typeface="Calibri" pitchFamily="34" charset="-120"/>
              </a:rPr>
              <a:t>NASA Remote Agent (1998–1999)</a:t>
            </a:r>
            <a:endParaRPr lang="en-US" sz="1100" dirty="0"/>
          </a:p>
        </p:txBody>
      </p:sp>
      <p:sp>
        <p:nvSpPr>
          <p:cNvPr id="19" name="Text 13"/>
          <p:cNvSpPr/>
          <p:nvPr/>
        </p:nvSpPr>
        <p:spPr>
          <a:xfrm>
            <a:off x="777240" y="2862072"/>
            <a:ext cx="3200400" cy="640080"/>
          </a:xfrm>
          <a:prstGeom prst="rect">
            <a:avLst/>
          </a:prstGeom>
          <a:noFill/>
          <a:ln/>
        </p:spPr>
        <p:txBody>
          <a:bodyPr wrap="square" lIns="0" tIns="0" rIns="0" bIns="0" rtlCol="0" anchor="ctr"/>
          <a:lstStyle/>
          <a:p>
            <a:pPr indent="0" marL="0">
              <a:buNone/>
            </a:pPr>
            <a:r>
              <a:rPr lang="en-US" sz="1000" dirty="0">
                <a:solidFill>
                  <a:srgbClr val="6B7094"/>
                </a:solidFill>
                <a:latin typeface="Calibri" pitchFamily="34" charset="0"/>
                <a:ea typeface="Calibri" pitchFamily="34" charset="-122"/>
                <a:cs typeface="Calibri" pitchFamily="34" charset="-120"/>
              </a:rPr>
              <a:t>Autonomous planning, fault detection, and self recovery without human input</a:t>
            </a:r>
            <a:endParaRPr lang="en-US" sz="1000" dirty="0"/>
          </a:p>
        </p:txBody>
      </p:sp>
      <p:sp>
        <p:nvSpPr>
          <p:cNvPr id="20" name="Text 14"/>
          <p:cNvSpPr/>
          <p:nvPr/>
        </p:nvSpPr>
        <p:spPr>
          <a:xfrm>
            <a:off x="4251960" y="2560320"/>
            <a:ext cx="457200" cy="914400"/>
          </a:xfrm>
          <a:prstGeom prst="rect">
            <a:avLst/>
          </a:prstGeom>
          <a:noFill/>
          <a:ln/>
        </p:spPr>
        <p:txBody>
          <a:bodyPr wrap="square" lIns="0" tIns="0" rIns="0" bIns="0" rtlCol="0" anchor="ctr"/>
          <a:lstStyle/>
          <a:p>
            <a:pPr algn="ctr" indent="0" marL="0">
              <a:buNone/>
            </a:pPr>
            <a:r>
              <a:rPr lang="en-US" sz="2200" dirty="0">
                <a:solidFill>
                  <a:srgbClr val="E8A838"/>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4754880" y="2423160"/>
            <a:ext cx="3840480" cy="1188720"/>
          </a:xfrm>
          <a:prstGeom prst="rect">
            <a:avLst/>
          </a:prstGeom>
          <a:solidFill>
            <a:srgbClr val="252B54"/>
          </a:solidFill>
          <a:ln/>
          <a:effectLst>
            <a:outerShdw sx="100000" sy="100000" kx="0" ky="0" algn="bl" rotWithShape="0" blurRad="101600" dist="38100" dir="8100000">
              <a:srgbClr val="000000">
                <a:alpha val="12000"/>
              </a:srgbClr>
            </a:outerShdw>
          </a:effectLst>
        </p:spPr>
      </p:sp>
      <p:pic>
        <p:nvPicPr>
          <p:cNvPr id="22" name="Image 4" descr="preencoded.png">    </p:cNvPr>
          <p:cNvPicPr>
            <a:picLocks noChangeAspect="1"/>
          </p:cNvPicPr>
          <p:nvPr/>
        </p:nvPicPr>
        <p:blipFill>
          <a:blip r:embed="rId5"/>
          <a:stretch>
            <a:fillRect/>
          </a:stretch>
        </p:blipFill>
        <p:spPr>
          <a:xfrm>
            <a:off x="4937760" y="2532888"/>
            <a:ext cx="256032" cy="256032"/>
          </a:xfrm>
          <a:prstGeom prst="rect">
            <a:avLst/>
          </a:prstGeom>
        </p:spPr>
      </p:pic>
      <p:sp>
        <p:nvSpPr>
          <p:cNvPr id="23" name="Text 16"/>
          <p:cNvSpPr/>
          <p:nvPr/>
        </p:nvSpPr>
        <p:spPr>
          <a:xfrm>
            <a:off x="5257800" y="2496312"/>
            <a:ext cx="3108960" cy="320040"/>
          </a:xfrm>
          <a:prstGeom prst="rect">
            <a:avLst/>
          </a:prstGeom>
          <a:noFill/>
          <a:ln/>
        </p:spPr>
        <p:txBody>
          <a:bodyPr wrap="square" lIns="0" tIns="0" rIns="0" bIns="0" rtlCol="0" anchor="ctr"/>
          <a:lstStyle/>
          <a:p>
            <a:pPr indent="0" marL="0">
              <a:buNone/>
            </a:pPr>
            <a:r>
              <a:rPr lang="en-US" sz="1200" b="1" dirty="0">
                <a:solidFill>
                  <a:srgbClr val="E8A838"/>
                </a:solidFill>
                <a:latin typeface="Calibri" pitchFamily="34" charset="0"/>
                <a:ea typeface="Calibri" pitchFamily="34" charset="-122"/>
                <a:cs typeface="Calibri" pitchFamily="34" charset="-120"/>
              </a:rPr>
              <a:t>Automated Incident Response</a:t>
            </a:r>
            <a:endParaRPr lang="en-US" sz="1200" dirty="0"/>
          </a:p>
        </p:txBody>
      </p:sp>
      <p:sp>
        <p:nvSpPr>
          <p:cNvPr id="24" name="Text 17"/>
          <p:cNvSpPr/>
          <p:nvPr/>
        </p:nvSpPr>
        <p:spPr>
          <a:xfrm>
            <a:off x="4937760" y="2834640"/>
            <a:ext cx="3474720" cy="71323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SOAR platforms and AI driven security systems automatically isolate compromised machines, classify threats, and execute remediation playbooks. This mirrors the Remote Agent's model of autonomous diagnosis and replanning under failure conditions.</a:t>
            </a:r>
            <a:endParaRPr lang="en-US" sz="950" dirty="0"/>
          </a:p>
        </p:txBody>
      </p:sp>
      <p:sp>
        <p:nvSpPr>
          <p:cNvPr id="25" name="Shape 18"/>
          <p:cNvSpPr/>
          <p:nvPr/>
        </p:nvSpPr>
        <p:spPr>
          <a:xfrm>
            <a:off x="548640" y="3840480"/>
            <a:ext cx="365760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19"/>
          <p:cNvSpPr/>
          <p:nvPr/>
        </p:nvSpPr>
        <p:spPr>
          <a:xfrm>
            <a:off x="548640" y="3840480"/>
            <a:ext cx="64008" cy="1188720"/>
          </a:xfrm>
          <a:prstGeom prst="rect">
            <a:avLst/>
          </a:prstGeom>
          <a:solidFill>
            <a:srgbClr val="E8A838"/>
          </a:solidFill>
          <a:ln/>
        </p:spPr>
      </p:sp>
      <p:pic>
        <p:nvPicPr>
          <p:cNvPr id="27" name="Image 5" descr="preencoded.png">    </p:cNvPr>
          <p:cNvPicPr>
            <a:picLocks noChangeAspect="1"/>
          </p:cNvPicPr>
          <p:nvPr/>
        </p:nvPicPr>
        <p:blipFill>
          <a:blip r:embed="rId6"/>
          <a:stretch>
            <a:fillRect/>
          </a:stretch>
        </p:blipFill>
        <p:spPr>
          <a:xfrm>
            <a:off x="731520" y="3950208"/>
            <a:ext cx="274320" cy="274320"/>
          </a:xfrm>
          <a:prstGeom prst="rect">
            <a:avLst/>
          </a:prstGeom>
        </p:spPr>
      </p:pic>
      <p:sp>
        <p:nvSpPr>
          <p:cNvPr id="28" name="Text 20"/>
          <p:cNvSpPr/>
          <p:nvPr/>
        </p:nvSpPr>
        <p:spPr>
          <a:xfrm>
            <a:off x="1097280" y="3913632"/>
            <a:ext cx="2880360" cy="320040"/>
          </a:xfrm>
          <a:prstGeom prst="rect">
            <a:avLst/>
          </a:prstGeom>
          <a:noFill/>
          <a:ln/>
        </p:spPr>
        <p:txBody>
          <a:bodyPr wrap="square" lIns="0" tIns="0" rIns="0" bIns="0" rtlCol="0" anchor="ctr"/>
          <a:lstStyle/>
          <a:p>
            <a:pPr indent="0" marL="0">
              <a:buNone/>
            </a:pPr>
            <a:r>
              <a:rPr lang="en-US" sz="1100" b="1" dirty="0">
                <a:solidFill>
                  <a:srgbClr val="1A1F3D"/>
                </a:solidFill>
                <a:latin typeface="Calibri" pitchFamily="34" charset="0"/>
                <a:ea typeface="Calibri" pitchFamily="34" charset="-122"/>
                <a:cs typeface="Calibri" pitchFamily="34" charset="-120"/>
              </a:rPr>
              <a:t>AIMA: Intelligent Agent Framework</a:t>
            </a:r>
            <a:endParaRPr lang="en-US" sz="1100" dirty="0"/>
          </a:p>
        </p:txBody>
      </p:sp>
      <p:sp>
        <p:nvSpPr>
          <p:cNvPr id="29" name="Text 21"/>
          <p:cNvSpPr/>
          <p:nvPr/>
        </p:nvSpPr>
        <p:spPr>
          <a:xfrm>
            <a:off x="777240" y="4279392"/>
            <a:ext cx="3200400" cy="640080"/>
          </a:xfrm>
          <a:prstGeom prst="rect">
            <a:avLst/>
          </a:prstGeom>
          <a:noFill/>
          <a:ln/>
        </p:spPr>
        <p:txBody>
          <a:bodyPr wrap="square" lIns="0" tIns="0" rIns="0" bIns="0" rtlCol="0" anchor="ctr"/>
          <a:lstStyle/>
          <a:p>
            <a:pPr indent="0" marL="0">
              <a:buNone/>
            </a:pPr>
            <a:r>
              <a:rPr lang="en-US" sz="1000" dirty="0">
                <a:solidFill>
                  <a:srgbClr val="6B7094"/>
                </a:solidFill>
                <a:latin typeface="Calibri" pitchFamily="34" charset="0"/>
                <a:ea typeface="Calibri" pitchFamily="34" charset="-122"/>
                <a:cs typeface="Calibri" pitchFamily="34" charset="-120"/>
              </a:rPr>
              <a:t>Agents that perceive their environment, reason about it, and act to achieve goals</a:t>
            </a:r>
            <a:endParaRPr lang="en-US" sz="1000" dirty="0"/>
          </a:p>
        </p:txBody>
      </p:sp>
      <p:sp>
        <p:nvSpPr>
          <p:cNvPr id="30" name="Text 22"/>
          <p:cNvSpPr/>
          <p:nvPr/>
        </p:nvSpPr>
        <p:spPr>
          <a:xfrm>
            <a:off x="4251960" y="3977640"/>
            <a:ext cx="457200" cy="914400"/>
          </a:xfrm>
          <a:prstGeom prst="rect">
            <a:avLst/>
          </a:prstGeom>
          <a:noFill/>
          <a:ln/>
        </p:spPr>
        <p:txBody>
          <a:bodyPr wrap="square" lIns="0" tIns="0" rIns="0" bIns="0" rtlCol="0" anchor="ctr"/>
          <a:lstStyle/>
          <a:p>
            <a:pPr algn="ctr" indent="0" marL="0">
              <a:buNone/>
            </a:pPr>
            <a:r>
              <a:rPr lang="en-US" sz="2200" dirty="0">
                <a:solidFill>
                  <a:srgbClr val="E8A838"/>
                </a:solidFill>
                <a:latin typeface="Calibri" pitchFamily="34" charset="0"/>
                <a:ea typeface="Calibri" pitchFamily="34" charset="-122"/>
                <a:cs typeface="Calibri" pitchFamily="34" charset="-120"/>
              </a:rPr>
              <a:t>➤</a:t>
            </a:r>
            <a:endParaRPr lang="en-US" sz="2200" dirty="0"/>
          </a:p>
        </p:txBody>
      </p:sp>
      <p:sp>
        <p:nvSpPr>
          <p:cNvPr id="31" name="Shape 23"/>
          <p:cNvSpPr/>
          <p:nvPr/>
        </p:nvSpPr>
        <p:spPr>
          <a:xfrm>
            <a:off x="4754880" y="3840480"/>
            <a:ext cx="3840480" cy="1188720"/>
          </a:xfrm>
          <a:prstGeom prst="rect">
            <a:avLst/>
          </a:prstGeom>
          <a:solidFill>
            <a:srgbClr val="252B54"/>
          </a:solidFill>
          <a:ln/>
          <a:effectLst>
            <a:outerShdw sx="100000" sy="100000" kx="0" ky="0" algn="bl" rotWithShape="0" blurRad="101600" dist="38100" dir="8100000">
              <a:srgbClr val="000000">
                <a:alpha val="12000"/>
              </a:srgbClr>
            </a:outerShdw>
          </a:effectLst>
        </p:spPr>
      </p:sp>
      <p:pic>
        <p:nvPicPr>
          <p:cNvPr id="32" name="Image 6" descr="preencoded.png">    </p:cNvPr>
          <p:cNvPicPr>
            <a:picLocks noChangeAspect="1"/>
          </p:cNvPicPr>
          <p:nvPr/>
        </p:nvPicPr>
        <p:blipFill>
          <a:blip r:embed="rId7"/>
          <a:stretch>
            <a:fillRect/>
          </a:stretch>
        </p:blipFill>
        <p:spPr>
          <a:xfrm>
            <a:off x="4937760" y="3950208"/>
            <a:ext cx="256032" cy="256032"/>
          </a:xfrm>
          <a:prstGeom prst="rect">
            <a:avLst/>
          </a:prstGeom>
        </p:spPr>
      </p:pic>
      <p:sp>
        <p:nvSpPr>
          <p:cNvPr id="33" name="Text 24"/>
          <p:cNvSpPr/>
          <p:nvPr/>
        </p:nvSpPr>
        <p:spPr>
          <a:xfrm>
            <a:off x="5257800" y="3913632"/>
            <a:ext cx="3108960" cy="320040"/>
          </a:xfrm>
          <a:prstGeom prst="rect">
            <a:avLst/>
          </a:prstGeom>
          <a:noFill/>
          <a:ln/>
        </p:spPr>
        <p:txBody>
          <a:bodyPr wrap="square" lIns="0" tIns="0" rIns="0" bIns="0" rtlCol="0" anchor="ctr"/>
          <a:lstStyle/>
          <a:p>
            <a:pPr indent="0" marL="0">
              <a:buNone/>
            </a:pPr>
            <a:r>
              <a:rPr lang="en-US" sz="1200" b="1" dirty="0">
                <a:solidFill>
                  <a:srgbClr val="E8A838"/>
                </a:solidFill>
                <a:latin typeface="Calibri" pitchFamily="34" charset="0"/>
                <a:ea typeface="Calibri" pitchFamily="34" charset="-122"/>
                <a:cs typeface="Calibri" pitchFamily="34" charset="-120"/>
              </a:rPr>
              <a:t>Behavioral Anomaly Detection</a:t>
            </a:r>
            <a:endParaRPr lang="en-US" sz="1200" dirty="0"/>
          </a:p>
        </p:txBody>
      </p:sp>
      <p:sp>
        <p:nvSpPr>
          <p:cNvPr id="34" name="Text 25"/>
          <p:cNvSpPr/>
          <p:nvPr/>
        </p:nvSpPr>
        <p:spPr>
          <a:xfrm>
            <a:off x="4937760" y="4251960"/>
            <a:ext cx="3474720" cy="71323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AI based cybersecurity agents establish behavioral baselines for users, devices, and applications, then flag deviations. This is a direct implementation of the perceive, reason, act agent model Norvig codified in AIMA.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28600"/>
            <a:ext cx="384048" cy="384048"/>
          </a:xfrm>
          <a:prstGeom prst="rect">
            <a:avLst/>
          </a:prstGeom>
        </p:spPr>
      </p:pic>
      <p:sp>
        <p:nvSpPr>
          <p:cNvPr id="4" name="Text 1"/>
          <p:cNvSpPr/>
          <p:nvPr/>
        </p:nvSpPr>
        <p:spPr>
          <a:xfrm>
            <a:off x="1051560" y="201168"/>
            <a:ext cx="749808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Makes Norvig Fascinating?</a:t>
            </a:r>
            <a:endParaRPr lang="en-US" sz="2800" dirty="0"/>
          </a:p>
        </p:txBody>
      </p:sp>
      <p:sp>
        <p:nvSpPr>
          <p:cNvPr id="5" name="Shape 2"/>
          <p:cNvSpPr/>
          <p:nvPr/>
        </p:nvSpPr>
        <p:spPr>
          <a:xfrm>
            <a:off x="548640" y="960120"/>
            <a:ext cx="8046720" cy="109728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960120"/>
            <a:ext cx="777240" cy="1097280"/>
          </a:xfrm>
          <a:prstGeom prst="rect">
            <a:avLst/>
          </a:prstGeom>
          <a:solidFill>
            <a:srgbClr val="E8A838"/>
          </a:solidFill>
          <a:ln/>
        </p:spPr>
      </p:sp>
      <p:sp>
        <p:nvSpPr>
          <p:cNvPr id="7" name="Text 4"/>
          <p:cNvSpPr/>
          <p:nvPr/>
        </p:nvSpPr>
        <p:spPr>
          <a:xfrm>
            <a:off x="548640" y="960120"/>
            <a:ext cx="777240" cy="1097280"/>
          </a:xfrm>
          <a:prstGeom prst="rect">
            <a:avLst/>
          </a:prstGeom>
          <a:noFill/>
          <a:ln/>
        </p:spPr>
        <p:txBody>
          <a:bodyPr wrap="square" lIns="0" tIns="0" rIns="0" bIns="0" rtlCol="0" anchor="ctr"/>
          <a:lstStyle/>
          <a:p>
            <a:pPr algn="ctr" indent="0" marL="0">
              <a:buNone/>
            </a:pPr>
            <a:r>
              <a:rPr lang="en-US" sz="3000" b="1" dirty="0">
                <a:solidFill>
                  <a:srgbClr val="1A1F3D"/>
                </a:solidFill>
                <a:latin typeface="Georgia" pitchFamily="34" charset="0"/>
                <a:ea typeface="Georgia" pitchFamily="34" charset="-122"/>
                <a:cs typeface="Georgia" pitchFamily="34" charset="-120"/>
              </a:rPr>
              <a:t>1</a:t>
            </a:r>
            <a:endParaRPr lang="en-US" sz="3000" dirty="0"/>
          </a:p>
        </p:txBody>
      </p:sp>
      <p:sp>
        <p:nvSpPr>
          <p:cNvPr id="8" name="Text 5"/>
          <p:cNvSpPr/>
          <p:nvPr/>
        </p:nvSpPr>
        <p:spPr>
          <a:xfrm>
            <a:off x="1554480" y="1051560"/>
            <a:ext cx="6766560" cy="914400"/>
          </a:xfrm>
          <a:prstGeom prst="rect">
            <a:avLst/>
          </a:prstGeom>
          <a:noFill/>
          <a:ln/>
        </p:spPr>
        <p:txBody>
          <a:bodyPr wrap="square" lIns="0" tIns="0" rIns="0" bIns="0" rtlCol="0" anchor="ctr"/>
          <a:lstStyle/>
          <a:p>
            <a:pPr indent="0" marL="0">
              <a:buNone/>
            </a:pPr>
            <a:r>
              <a:rPr lang="en-US" sz="1500" b="1" dirty="0">
                <a:solidFill>
                  <a:srgbClr val="E8A838"/>
                </a:solidFill>
                <a:latin typeface="Calibri" pitchFamily="34" charset="0"/>
                <a:ea typeface="Calibri" pitchFamily="34" charset="-122"/>
                <a:cs typeface="Calibri" pitchFamily="34" charset="-120"/>
              </a:rPr>
              <a:t>Theory That Became Infrastructure</a:t>
            </a:r>
            <a:endParaRPr lang="en-US" sz="1500" dirty="0"/>
          </a:p>
          <a:p>
            <a:pPr indent="0" marL="0">
              <a:buNone/>
            </a:pPr>
            <a:r>
              <a:rPr lang="en-US" sz="1150" dirty="0">
                <a:solidFill>
                  <a:srgbClr val="CADCFC"/>
                </a:solidFill>
                <a:latin typeface="Calibri" pitchFamily="34" charset="0"/>
                <a:ea typeface="Calibri" pitchFamily="34" charset="-122"/>
                <a:cs typeface="Calibri" pitchFamily="34" charset="-120"/>
              </a:rPr>
              <a:t>He wrote the textbook that trained the researchers who now build AI powered security systems at every major cybersecurity vendor. AIMA's intelligent agent model is the blueprint behind modern endpoint detection and response (EDR) platforms.</a:t>
            </a:r>
            <a:endParaRPr lang="en-US" sz="1500" dirty="0"/>
          </a:p>
        </p:txBody>
      </p:sp>
      <p:sp>
        <p:nvSpPr>
          <p:cNvPr id="9" name="Shape 6"/>
          <p:cNvSpPr/>
          <p:nvPr/>
        </p:nvSpPr>
        <p:spPr>
          <a:xfrm>
            <a:off x="548640" y="2286000"/>
            <a:ext cx="8046720" cy="109728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10" name="Shape 7"/>
          <p:cNvSpPr/>
          <p:nvPr/>
        </p:nvSpPr>
        <p:spPr>
          <a:xfrm>
            <a:off x="548640" y="2286000"/>
            <a:ext cx="777240" cy="1097280"/>
          </a:xfrm>
          <a:prstGeom prst="rect">
            <a:avLst/>
          </a:prstGeom>
          <a:solidFill>
            <a:srgbClr val="E8A838"/>
          </a:solidFill>
          <a:ln/>
        </p:spPr>
      </p:sp>
      <p:sp>
        <p:nvSpPr>
          <p:cNvPr id="11" name="Text 8"/>
          <p:cNvSpPr/>
          <p:nvPr/>
        </p:nvSpPr>
        <p:spPr>
          <a:xfrm>
            <a:off x="548640" y="2286000"/>
            <a:ext cx="777240" cy="1097280"/>
          </a:xfrm>
          <a:prstGeom prst="rect">
            <a:avLst/>
          </a:prstGeom>
          <a:noFill/>
          <a:ln/>
        </p:spPr>
        <p:txBody>
          <a:bodyPr wrap="square" lIns="0" tIns="0" rIns="0" bIns="0" rtlCol="0" anchor="ctr"/>
          <a:lstStyle/>
          <a:p>
            <a:pPr algn="ctr" indent="0" marL="0">
              <a:buNone/>
            </a:pPr>
            <a:r>
              <a:rPr lang="en-US" sz="3000" b="1" dirty="0">
                <a:solidFill>
                  <a:srgbClr val="1A1F3D"/>
                </a:solidFill>
                <a:latin typeface="Georgia" pitchFamily="34" charset="0"/>
                <a:ea typeface="Georgia" pitchFamily="34" charset="-122"/>
                <a:cs typeface="Georgia" pitchFamily="34" charset="-120"/>
              </a:rPr>
              <a:t>2</a:t>
            </a:r>
            <a:endParaRPr lang="en-US" sz="3000" dirty="0"/>
          </a:p>
        </p:txBody>
      </p:sp>
      <p:sp>
        <p:nvSpPr>
          <p:cNvPr id="12" name="Text 9"/>
          <p:cNvSpPr/>
          <p:nvPr/>
        </p:nvSpPr>
        <p:spPr>
          <a:xfrm>
            <a:off x="1554480" y="2377440"/>
            <a:ext cx="6766560" cy="914400"/>
          </a:xfrm>
          <a:prstGeom prst="rect">
            <a:avLst/>
          </a:prstGeom>
          <a:noFill/>
          <a:ln/>
        </p:spPr>
        <p:txBody>
          <a:bodyPr wrap="square" lIns="0" tIns="0" rIns="0" bIns="0" rtlCol="0" anchor="ctr"/>
          <a:lstStyle/>
          <a:p>
            <a:pPr indent="0" marL="0">
              <a:buNone/>
            </a:pPr>
            <a:r>
              <a:rPr lang="en-US" sz="1500" b="1" dirty="0">
                <a:solidFill>
                  <a:srgbClr val="E8A838"/>
                </a:solidFill>
                <a:latin typeface="Calibri" pitchFamily="34" charset="0"/>
                <a:ea typeface="Calibri" pitchFamily="34" charset="-122"/>
                <a:cs typeface="Calibri" pitchFamily="34" charset="-120"/>
              </a:rPr>
              <a:t>Predicted the Data Revolution</a:t>
            </a:r>
            <a:endParaRPr lang="en-US" sz="1500" dirty="0"/>
          </a:p>
          <a:p>
            <a:pPr indent="0" marL="0">
              <a:buNone/>
            </a:pPr>
            <a:r>
              <a:rPr lang="en-US" sz="1150" dirty="0">
                <a:solidFill>
                  <a:srgbClr val="CADCFC"/>
                </a:solidFill>
                <a:latin typeface="Calibri" pitchFamily="34" charset="0"/>
                <a:ea typeface="Calibri" pitchFamily="34" charset="-122"/>
                <a:cs typeface="Calibri" pitchFamily="34" charset="-120"/>
              </a:rPr>
              <a:t>In 2009, before deep learning took off, Norvig argued that massive data trumps clever algorithms. Today, that exact principle powers the ML models that process billions of security events per day to catch threats humans never could.</a:t>
            </a:r>
            <a:endParaRPr lang="en-US" sz="1500" dirty="0"/>
          </a:p>
        </p:txBody>
      </p:sp>
      <p:sp>
        <p:nvSpPr>
          <p:cNvPr id="13" name="Shape 10"/>
          <p:cNvSpPr/>
          <p:nvPr/>
        </p:nvSpPr>
        <p:spPr>
          <a:xfrm>
            <a:off x="548640" y="3611880"/>
            <a:ext cx="8046720" cy="109728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14" name="Shape 11"/>
          <p:cNvSpPr/>
          <p:nvPr/>
        </p:nvSpPr>
        <p:spPr>
          <a:xfrm>
            <a:off x="548640" y="3611880"/>
            <a:ext cx="777240" cy="1097280"/>
          </a:xfrm>
          <a:prstGeom prst="rect">
            <a:avLst/>
          </a:prstGeom>
          <a:solidFill>
            <a:srgbClr val="E8A838"/>
          </a:solidFill>
          <a:ln/>
        </p:spPr>
      </p:sp>
      <p:sp>
        <p:nvSpPr>
          <p:cNvPr id="15" name="Text 12"/>
          <p:cNvSpPr/>
          <p:nvPr/>
        </p:nvSpPr>
        <p:spPr>
          <a:xfrm>
            <a:off x="548640" y="3611880"/>
            <a:ext cx="777240" cy="1097280"/>
          </a:xfrm>
          <a:prstGeom prst="rect">
            <a:avLst/>
          </a:prstGeom>
          <a:noFill/>
          <a:ln/>
        </p:spPr>
        <p:txBody>
          <a:bodyPr wrap="square" lIns="0" tIns="0" rIns="0" bIns="0" rtlCol="0" anchor="ctr"/>
          <a:lstStyle/>
          <a:p>
            <a:pPr algn="ctr" indent="0" marL="0">
              <a:buNone/>
            </a:pPr>
            <a:r>
              <a:rPr lang="en-US" sz="3000" b="1" dirty="0">
                <a:solidFill>
                  <a:srgbClr val="1A1F3D"/>
                </a:solidFill>
                <a:latin typeface="Georgia" pitchFamily="34" charset="0"/>
                <a:ea typeface="Georgia" pitchFamily="34" charset="-122"/>
                <a:cs typeface="Georgia" pitchFamily="34" charset="-120"/>
              </a:rPr>
              <a:t>3</a:t>
            </a:r>
            <a:endParaRPr lang="en-US" sz="3000" dirty="0"/>
          </a:p>
        </p:txBody>
      </p:sp>
      <p:sp>
        <p:nvSpPr>
          <p:cNvPr id="16" name="Text 13"/>
          <p:cNvSpPr/>
          <p:nvPr/>
        </p:nvSpPr>
        <p:spPr>
          <a:xfrm>
            <a:off x="1554480" y="3703320"/>
            <a:ext cx="6766560" cy="914400"/>
          </a:xfrm>
          <a:prstGeom prst="rect">
            <a:avLst/>
          </a:prstGeom>
          <a:noFill/>
          <a:ln/>
        </p:spPr>
        <p:txBody>
          <a:bodyPr wrap="square" lIns="0" tIns="0" rIns="0" bIns="0" rtlCol="0" anchor="ctr"/>
          <a:lstStyle/>
          <a:p>
            <a:pPr indent="0" marL="0">
              <a:buNone/>
            </a:pPr>
            <a:r>
              <a:rPr lang="en-US" sz="1500" b="1" dirty="0">
                <a:solidFill>
                  <a:srgbClr val="E8A838"/>
                </a:solidFill>
                <a:latin typeface="Calibri" pitchFamily="34" charset="0"/>
                <a:ea typeface="Calibri" pitchFamily="34" charset="-122"/>
                <a:cs typeface="Calibri" pitchFamily="34" charset="-120"/>
              </a:rPr>
              <a:t>Built Autonomy Before It Was a Buzzword</a:t>
            </a:r>
            <a:endParaRPr lang="en-US" sz="1500" dirty="0"/>
          </a:p>
          <a:p>
            <a:pPr indent="0" marL="0">
              <a:buNone/>
            </a:pPr>
            <a:r>
              <a:rPr lang="en-US" sz="1150" dirty="0">
                <a:solidFill>
                  <a:srgbClr val="CADCFC"/>
                </a:solidFill>
                <a:latin typeface="Calibri" pitchFamily="34" charset="0"/>
                <a:ea typeface="Calibri" pitchFamily="34" charset="-122"/>
                <a:cs typeface="Calibri" pitchFamily="34" charset="-120"/>
              </a:rPr>
              <a:t>His Remote Agent proved AI could diagnose failures and act independently in space. That same concept of autonomous detection, diagnosis, and response is now the foundation of every modern SOAR and XDR platform in cybersecurity.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731520" y="914400"/>
            <a:ext cx="768096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Shape 2"/>
          <p:cNvSpPr/>
          <p:nvPr/>
        </p:nvSpPr>
        <p:spPr>
          <a:xfrm>
            <a:off x="3886200" y="2057400"/>
            <a:ext cx="1371600" cy="36576"/>
          </a:xfrm>
          <a:prstGeom prst="rect">
            <a:avLst/>
          </a:prstGeom>
          <a:solidFill>
            <a:srgbClr val="E8A838"/>
          </a:solidFill>
          <a:ln/>
        </p:spPr>
      </p:sp>
      <p:sp>
        <p:nvSpPr>
          <p:cNvPr id="5" name="Text 3"/>
          <p:cNvSpPr/>
          <p:nvPr/>
        </p:nvSpPr>
        <p:spPr>
          <a:xfrm>
            <a:off x="1097280" y="2377440"/>
            <a:ext cx="6949440" cy="118872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From the textbook that trained a generation, to the spacecraft</a:t>
            </a:r>
            <a:endParaRPr lang="en-US" sz="1500" dirty="0"/>
          </a:p>
          <a:p>
            <a:pPr algn="ctr" indent="0" marL="0">
              <a:buNone/>
            </a:pPr>
            <a:r>
              <a:rPr lang="en-US" sz="1500" i="1" dirty="0">
                <a:solidFill>
                  <a:srgbClr val="CADCFC"/>
                </a:solidFill>
                <a:latin typeface="Calibri" pitchFamily="34" charset="0"/>
                <a:ea typeface="Calibri" pitchFamily="34" charset="-122"/>
                <a:cs typeface="Calibri" pitchFamily="34" charset="-120"/>
              </a:rPr>
              <a:t>that thought for itself, to the data philosophy that powers</a:t>
            </a:r>
            <a:endParaRPr lang="en-US" sz="1500" dirty="0"/>
          </a:p>
          <a:p>
            <a:pPr algn="ctr" indent="0" marL="0">
              <a:buNone/>
            </a:pPr>
            <a:r>
              <a:rPr lang="en-US" sz="1500" i="1" dirty="0">
                <a:solidFill>
                  <a:srgbClr val="CADCFC"/>
                </a:solidFill>
                <a:latin typeface="Calibri" pitchFamily="34" charset="0"/>
                <a:ea typeface="Calibri" pitchFamily="34" charset="-122"/>
                <a:cs typeface="Calibri" pitchFamily="34" charset="-120"/>
              </a:rPr>
              <a:t>today's cyber defense, Norvig's work is woven into</a:t>
            </a:r>
            <a:endParaRPr lang="en-US" sz="1500" dirty="0"/>
          </a:p>
          <a:p>
            <a:pPr algn="ctr" indent="0" marL="0">
              <a:buNone/>
            </a:pPr>
            <a:r>
              <a:rPr lang="en-US" sz="1500" i="1" dirty="0">
                <a:solidFill>
                  <a:srgbClr val="CADCFC"/>
                </a:solidFill>
                <a:latin typeface="Calibri" pitchFamily="34" charset="0"/>
                <a:ea typeface="Calibri" pitchFamily="34" charset="-122"/>
                <a:cs typeface="Calibri" pitchFamily="34" charset="-120"/>
              </a:rPr>
              <a:t>the fabric of modern cybersecurity.</a:t>
            </a:r>
            <a:endParaRPr lang="en-US" sz="1500" dirty="0"/>
          </a:p>
        </p:txBody>
      </p:sp>
      <p:sp>
        <p:nvSpPr>
          <p:cNvPr id="6" name="Text 4"/>
          <p:cNvSpPr/>
          <p:nvPr/>
        </p:nvSpPr>
        <p:spPr>
          <a:xfrm>
            <a:off x="731520" y="4389120"/>
            <a:ext cx="7680960" cy="365760"/>
          </a:xfrm>
          <a:prstGeom prst="rect">
            <a:avLst/>
          </a:prstGeom>
          <a:noFill/>
          <a:ln/>
        </p:spPr>
        <p:txBody>
          <a:bodyPr wrap="square" lIns="0" tIns="0" rIns="0" bIns="0" rtlCol="0" anchor="ctr"/>
          <a:lstStyle/>
          <a:p>
            <a:pPr algn="ctr" indent="0" marL="0">
              <a:buNone/>
            </a:pPr>
            <a:r>
              <a:rPr lang="en-US" sz="1100" dirty="0">
                <a:solidFill>
                  <a:srgbClr val="6B7094"/>
                </a:solidFill>
                <a:latin typeface="Calibri" pitchFamily="34" charset="0"/>
                <a:ea typeface="Calibri" pitchFamily="34" charset="-122"/>
                <a:cs typeface="Calibri" pitchFamily="34" charset="-120"/>
              </a:rPr>
              <a:t>Walker  |  Northeastern University  |  Computer Science &amp; Cybersecurity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Peter Norvig: AI Pioneer &amp; His Impact on Cybersecurity</dc:title>
  <dc:subject>PptxGenJS Presentation</dc:subject>
  <dc:creator>Walker</dc:creator>
  <cp:lastModifiedBy>Walker</cp:lastModifiedBy>
  <cp:revision>1</cp:revision>
  <dcterms:created xsi:type="dcterms:W3CDTF">2026-03-10T11:17:37Z</dcterms:created>
  <dcterms:modified xsi:type="dcterms:W3CDTF">2026-03-10T11:17:37Z</dcterms:modified>
</cp:coreProperties>
</file>