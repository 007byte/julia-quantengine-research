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I'm presenting on Peter Norvig, one of the most influential figures in AI and computer science.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bio: Norvig earned his Ph.D. from UC Berkeley in 1986, then held key roles at NASA Ames, Google for 20 years, and now Stanford HAI. Over 50 publications spanning AI, NLP, and software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 textbook AIMA, coauthored with Stuart Russell, is the gold standard. Used in 1,500+ universities, 500K copies sold, 48K citations. It unified AI around the intelligent agents framework and includes open source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NASA, his team built the Remote Agent, the first AI to command a spacecraft autonomously on Deep Space 1. It could diagnose faults and replan in real time. Won NASA Software of the Year and influenced the Mars rovers.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Google, Norvig led research across ML, vision, and NLP. His 2009 paper argued that massive data beats elegant theories for human language problems, presaging the deep learning and LLM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2011, Norvig and Thrun offered Stanford's AI course free online. 160,000 enrolled from 190+ countries. This sparked the MOOC revolution, leading to Udacity, Coursera, and edX.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Norvig fascinating: he bridges theory and practice like almost no one else, he brings humor and humanity to computing, and he has spent his career making knowledge accessible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closing, Norvig's legacy is not just in the AI systems he built but in the millions of people he empowered to learn.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3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A838"/>
          </a:solidFill>
          <a:ln/>
        </p:spPr>
      </p:sp>
      <p:sp>
        <p:nvSpPr>
          <p:cNvPr id="3" name="Text 1"/>
          <p:cNvSpPr/>
          <p:nvPr/>
        </p:nvSpPr>
        <p:spPr>
          <a:xfrm>
            <a:off x="731520" y="1097280"/>
            <a:ext cx="7680960" cy="1280160"/>
          </a:xfrm>
          <a:prstGeom prst="rect">
            <a:avLst/>
          </a:prstGeom>
          <a:noFill/>
          <a:ln/>
        </p:spPr>
        <p:txBody>
          <a:bodyPr wrap="square" lIns="0" tIns="0" rIns="0" bIns="0" rtlCol="0" anchor="ctr"/>
          <a:lstStyle/>
          <a:p>
            <a:pPr algn="l" indent="0" marL="0">
              <a:buNone/>
            </a:pPr>
            <a:r>
              <a:rPr lang="en-US" sz="4800" b="1" dirty="0">
                <a:solidFill>
                  <a:srgbClr val="FFFFFF"/>
                </a:solidFill>
                <a:latin typeface="Georgia" pitchFamily="34" charset="0"/>
                <a:ea typeface="Georgia" pitchFamily="34" charset="-122"/>
                <a:cs typeface="Georgia" pitchFamily="34" charset="-120"/>
              </a:rPr>
              <a:t>Peter Norvig</a:t>
            </a:r>
            <a:endParaRPr lang="en-US" sz="4800" dirty="0"/>
          </a:p>
        </p:txBody>
      </p:sp>
      <p:sp>
        <p:nvSpPr>
          <p:cNvPr id="4" name="Text 2"/>
          <p:cNvSpPr/>
          <p:nvPr/>
        </p:nvSpPr>
        <p:spPr>
          <a:xfrm>
            <a:off x="731520" y="2286000"/>
            <a:ext cx="7680960" cy="640080"/>
          </a:xfrm>
          <a:prstGeom prst="rect">
            <a:avLst/>
          </a:prstGeom>
          <a:noFill/>
          <a:ln/>
        </p:spPr>
        <p:txBody>
          <a:bodyPr wrap="square" lIns="0" tIns="0" rIns="0" bIns="0" rtlCol="0" anchor="ctr"/>
          <a:lstStyle/>
          <a:p>
            <a:pPr algn="l" indent="0" marL="0">
              <a:buNone/>
            </a:pPr>
            <a:r>
              <a:rPr lang="en-US" sz="2200" dirty="0">
                <a:solidFill>
                  <a:srgbClr val="CADCFC"/>
                </a:solidFill>
                <a:latin typeface="Calibri" pitchFamily="34" charset="0"/>
                <a:ea typeface="Calibri" pitchFamily="34" charset="-122"/>
                <a:cs typeface="Calibri" pitchFamily="34" charset="-120"/>
              </a:rPr>
              <a:t>A Giant of Artificial Intelligence</a:t>
            </a:r>
            <a:endParaRPr lang="en-US" sz="2200" dirty="0"/>
          </a:p>
        </p:txBody>
      </p:sp>
      <p:sp>
        <p:nvSpPr>
          <p:cNvPr id="5" name="Shape 3"/>
          <p:cNvSpPr/>
          <p:nvPr/>
        </p:nvSpPr>
        <p:spPr>
          <a:xfrm>
            <a:off x="731520" y="3108960"/>
            <a:ext cx="1371600" cy="36576"/>
          </a:xfrm>
          <a:prstGeom prst="rect">
            <a:avLst/>
          </a:prstGeom>
          <a:solidFill>
            <a:srgbClr val="E8A838"/>
          </a:solidFill>
          <a:ln/>
        </p:spPr>
      </p:sp>
      <p:sp>
        <p:nvSpPr>
          <p:cNvPr id="6" name="Text 4"/>
          <p:cNvSpPr/>
          <p:nvPr/>
        </p:nvSpPr>
        <p:spPr>
          <a:xfrm>
            <a:off x="731520" y="3337560"/>
            <a:ext cx="7680960" cy="457200"/>
          </a:xfrm>
          <a:prstGeom prst="rect">
            <a:avLst/>
          </a:prstGeom>
          <a:noFill/>
          <a:ln/>
        </p:spPr>
        <p:txBody>
          <a:bodyPr wrap="square" lIns="0" tIns="0" rIns="0" bIns="0" rtlCol="0" anchor="ctr"/>
          <a:lstStyle/>
          <a:p>
            <a:pPr algn="l" indent="0" marL="0">
              <a:buNone/>
            </a:pPr>
            <a:r>
              <a:rPr lang="en-US" sz="1400" i="1" dirty="0">
                <a:solidFill>
                  <a:srgbClr val="8B92B8"/>
                </a:solidFill>
                <a:latin typeface="Calibri" pitchFamily="34" charset="0"/>
                <a:ea typeface="Calibri" pitchFamily="34" charset="-122"/>
                <a:cs typeface="Calibri" pitchFamily="34" charset="-120"/>
              </a:rPr>
              <a:t>Contributions, Findings, and Legacy</a:t>
            </a:r>
            <a:endParaRPr lang="en-US" sz="1400" dirty="0"/>
          </a:p>
        </p:txBody>
      </p:sp>
      <p:pic>
        <p:nvPicPr>
          <p:cNvPr id="7" name="Image 0" descr="preencoded.png">    </p:cNvPr>
          <p:cNvPicPr>
            <a:picLocks noChangeAspect="1"/>
          </p:cNvPicPr>
          <p:nvPr/>
        </p:nvPicPr>
        <p:blipFill>
          <a:blip r:embed="rId1"/>
          <a:stretch>
            <a:fillRect/>
          </a:stretch>
        </p:blipFill>
        <p:spPr>
          <a:xfrm>
            <a:off x="2926080" y="4114800"/>
            <a:ext cx="411480" cy="411480"/>
          </a:xfrm>
          <a:prstGeom prst="rect">
            <a:avLst/>
          </a:prstGeom>
        </p:spPr>
      </p:pic>
      <p:pic>
        <p:nvPicPr>
          <p:cNvPr id="8" name="Image 1" descr="preencoded.png">    </p:cNvPr>
          <p:cNvPicPr>
            <a:picLocks noChangeAspect="1"/>
          </p:cNvPicPr>
          <p:nvPr/>
        </p:nvPicPr>
        <p:blipFill>
          <a:blip r:embed="rId2"/>
          <a:stretch>
            <a:fillRect/>
          </a:stretch>
        </p:blipFill>
        <p:spPr>
          <a:xfrm>
            <a:off x="4343400" y="4114800"/>
            <a:ext cx="411480" cy="411480"/>
          </a:xfrm>
          <a:prstGeom prst="rect">
            <a:avLst/>
          </a:prstGeom>
        </p:spPr>
      </p:pic>
      <p:pic>
        <p:nvPicPr>
          <p:cNvPr id="9" name="Image 2" descr="preencoded.png">    </p:cNvPr>
          <p:cNvPicPr>
            <a:picLocks noChangeAspect="1"/>
          </p:cNvPicPr>
          <p:nvPr/>
        </p:nvPicPr>
        <p:blipFill>
          <a:blip r:embed="rId3"/>
          <a:stretch>
            <a:fillRect/>
          </a:stretch>
        </p:blipFill>
        <p:spPr>
          <a:xfrm>
            <a:off x="5760720" y="4114800"/>
            <a:ext cx="411480" cy="411480"/>
          </a:xfrm>
          <a:prstGeom prst="rect">
            <a:avLst/>
          </a:prstGeom>
        </p:spPr>
      </p:pic>
      <p:sp>
        <p:nvSpPr>
          <p:cNvPr id="10" name="Text 5"/>
          <p:cNvSpPr/>
          <p:nvPr/>
        </p:nvSpPr>
        <p:spPr>
          <a:xfrm>
            <a:off x="731520" y="4572000"/>
            <a:ext cx="7680960" cy="365760"/>
          </a:xfrm>
          <a:prstGeom prst="rect">
            <a:avLst/>
          </a:prstGeom>
          <a:noFill/>
          <a:ln/>
        </p:spPr>
        <p:txBody>
          <a:bodyPr wrap="square" lIns="0" tIns="0" rIns="0" bIns="0" rtlCol="0" anchor="ctr"/>
          <a:lstStyle/>
          <a:p>
            <a:pPr algn="ctr" indent="0" marL="0">
              <a:buNone/>
            </a:pPr>
            <a:r>
              <a:rPr lang="en-US" sz="1100" dirty="0">
                <a:solidFill>
                  <a:srgbClr val="6B7094"/>
                </a:solidFill>
                <a:latin typeface="Calibri" pitchFamily="34" charset="0"/>
                <a:ea typeface="Calibri" pitchFamily="34" charset="-122"/>
                <a:cs typeface="Calibri" pitchFamily="34" charset="-120"/>
              </a:rPr>
              <a:t>Walker  |  Northeastern University  |  March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A838"/>
          </a:solidFill>
          <a:ln/>
        </p:spPr>
      </p:sp>
      <p:sp>
        <p:nvSpPr>
          <p:cNvPr id="3" name="Text 1"/>
          <p:cNvSpPr/>
          <p:nvPr/>
        </p:nvSpPr>
        <p:spPr>
          <a:xfrm>
            <a:off x="548640" y="274320"/>
            <a:ext cx="8046720" cy="640080"/>
          </a:xfrm>
          <a:prstGeom prst="rect">
            <a:avLst/>
          </a:prstGeom>
          <a:noFill/>
          <a:ln/>
        </p:spPr>
        <p:txBody>
          <a:bodyPr wrap="square" lIns="0" tIns="0" rIns="0" bIns="0" rtlCol="0" anchor="ctr"/>
          <a:lstStyle/>
          <a:p>
            <a:pPr indent="0" marL="0">
              <a:buNone/>
            </a:pPr>
            <a:r>
              <a:rPr lang="en-US" sz="3200" b="1" dirty="0">
                <a:solidFill>
                  <a:srgbClr val="1A1F3D"/>
                </a:solidFill>
                <a:latin typeface="Georgia" pitchFamily="34" charset="0"/>
                <a:ea typeface="Georgia" pitchFamily="34" charset="-122"/>
                <a:cs typeface="Georgia" pitchFamily="34" charset="-120"/>
              </a:rPr>
              <a:t>Who Is Peter Norvig?</a:t>
            </a:r>
            <a:endParaRPr lang="en-US" sz="3200" dirty="0"/>
          </a:p>
        </p:txBody>
      </p:sp>
      <p:sp>
        <p:nvSpPr>
          <p:cNvPr id="4" name="Shape 2"/>
          <p:cNvSpPr/>
          <p:nvPr/>
        </p:nvSpPr>
        <p:spPr>
          <a:xfrm>
            <a:off x="548640" y="1097280"/>
            <a:ext cx="3931920" cy="34747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5" name="Shape 3"/>
          <p:cNvSpPr/>
          <p:nvPr/>
        </p:nvSpPr>
        <p:spPr>
          <a:xfrm>
            <a:off x="548640" y="1097280"/>
            <a:ext cx="64008" cy="3474720"/>
          </a:xfrm>
          <a:prstGeom prst="rect">
            <a:avLst/>
          </a:prstGeom>
          <a:solidFill>
            <a:srgbClr val="E8A838"/>
          </a:solidFill>
          <a:ln/>
        </p:spPr>
      </p:sp>
      <p:sp>
        <p:nvSpPr>
          <p:cNvPr id="6" name="Text 4"/>
          <p:cNvSpPr/>
          <p:nvPr/>
        </p:nvSpPr>
        <p:spPr>
          <a:xfrm>
            <a:off x="914400" y="1325880"/>
            <a:ext cx="3337560" cy="3108960"/>
          </a:xfrm>
          <a:prstGeom prst="rect">
            <a:avLst/>
          </a:prstGeom>
          <a:noFill/>
          <a:ln/>
        </p:spPr>
        <p:txBody>
          <a:bodyPr wrap="square" lIns="0" tIns="0" rIns="0" bIns="0" rtlCol="0" anchor="t"/>
          <a:lstStyle/>
          <a:p>
            <a:pPr indent="0" marL="0">
              <a:buNone/>
            </a:pPr>
            <a:r>
              <a:rPr lang="en-US" sz="1300" b="1" dirty="0">
                <a:solidFill>
                  <a:srgbClr val="1A1F3D"/>
                </a:solidFill>
                <a:latin typeface="Calibri" pitchFamily="34" charset="0"/>
                <a:ea typeface="Calibri" pitchFamily="34" charset="-122"/>
                <a:cs typeface="Calibri" pitchFamily="34" charset="-120"/>
              </a:rPr>
              <a:t>Born: </a:t>
            </a:r>
            <a:pPr indent="0" marL="0">
              <a:buNone/>
            </a:pPr>
            <a:r>
              <a:rPr lang="en-US" sz="1300" dirty="0">
                <a:solidFill>
                  <a:srgbClr val="2C3050"/>
                </a:solidFill>
                <a:latin typeface="Calibri" pitchFamily="34" charset="0"/>
                <a:ea typeface="Calibri" pitchFamily="34" charset="-122"/>
                <a:cs typeface="Calibri" pitchFamily="34" charset="-120"/>
              </a:rPr>
              <a:t>December 14, 1956</a:t>
            </a:r>
            <a:endParaRPr lang="en-US" sz="1300" dirty="0"/>
          </a:p>
          <a:p>
            <a:pPr indent="0" marL="0">
              <a:buNone/>
            </a:pPr>
            <a:endParaRPr lang="en-US" sz="1300" dirty="0"/>
          </a:p>
          <a:p>
            <a:pPr indent="0" marL="0">
              <a:buNone/>
            </a:pPr>
            <a:r>
              <a:rPr lang="en-US" sz="1400" b="1" dirty="0">
                <a:solidFill>
                  <a:srgbClr val="E8A838"/>
                </a:solidFill>
                <a:latin typeface="Calibri" pitchFamily="34" charset="0"/>
                <a:ea typeface="Calibri" pitchFamily="34" charset="-122"/>
                <a:cs typeface="Calibri" pitchFamily="34" charset="-120"/>
              </a:rPr>
              <a:t>Education</a:t>
            </a:r>
            <a:endParaRPr lang="en-US" sz="1300" dirty="0"/>
          </a:p>
          <a:p>
            <a:pPr marL="342900" indent="-342900">
              <a:buSzPct val="100000"/>
              <a:buChar char="•"/>
            </a:pPr>
            <a:r>
              <a:rPr lang="en-US" sz="1200" dirty="0">
                <a:solidFill>
                  <a:srgbClr val="2C3050"/>
                </a:solidFill>
                <a:latin typeface="Calibri" pitchFamily="34" charset="0"/>
                <a:ea typeface="Calibri" pitchFamily="34" charset="-122"/>
                <a:cs typeface="Calibri" pitchFamily="34" charset="-120"/>
              </a:rPr>
              <a:t>B.S. Applied Mathematics, Brown University</a:t>
            </a:r>
            <a:endParaRPr lang="en-US" sz="1300" dirty="0"/>
          </a:p>
          <a:p>
            <a:pPr marL="342900" indent="-342900">
              <a:buSzPct val="100000"/>
              <a:buChar char="•"/>
            </a:pPr>
            <a:r>
              <a:rPr lang="en-US" sz="1200" dirty="0">
                <a:solidFill>
                  <a:srgbClr val="2C3050"/>
                </a:solidFill>
                <a:latin typeface="Calibri" pitchFamily="34" charset="0"/>
                <a:ea typeface="Calibri" pitchFamily="34" charset="-122"/>
                <a:cs typeface="Calibri" pitchFamily="34" charset="-120"/>
              </a:rPr>
              <a:t>Ph.D. Computer Science, UC Berkeley (1986)</a:t>
            </a:r>
            <a:endParaRPr lang="en-US" sz="1300" dirty="0"/>
          </a:p>
          <a:p>
            <a:pPr indent="0" marL="0">
              <a:buNone/>
            </a:pPr>
            <a:endParaRPr lang="en-US" sz="1300" dirty="0"/>
          </a:p>
          <a:p>
            <a:pPr indent="0" marL="0">
              <a:buNone/>
            </a:pPr>
            <a:r>
              <a:rPr lang="en-US" sz="1400" b="1" dirty="0">
                <a:solidFill>
                  <a:srgbClr val="E8A838"/>
                </a:solidFill>
                <a:latin typeface="Calibri" pitchFamily="34" charset="0"/>
                <a:ea typeface="Calibri" pitchFamily="34" charset="-122"/>
                <a:cs typeface="Calibri" pitchFamily="34" charset="-120"/>
              </a:rPr>
              <a:t>Key Roles</a:t>
            </a:r>
            <a:endParaRPr lang="en-US" sz="1300" dirty="0"/>
          </a:p>
          <a:p>
            <a:pPr marL="342900" indent="-342900">
              <a:buSzPct val="100000"/>
              <a:buChar char="•"/>
            </a:pPr>
            <a:r>
              <a:rPr lang="en-US" sz="1200" dirty="0">
                <a:solidFill>
                  <a:srgbClr val="2C3050"/>
                </a:solidFill>
                <a:latin typeface="Calibri" pitchFamily="34" charset="0"/>
                <a:ea typeface="Calibri" pitchFamily="34" charset="-122"/>
                <a:cs typeface="Calibri" pitchFamily="34" charset="-120"/>
              </a:rPr>
              <a:t>Head of Computational Sciences, NASA Ames</a:t>
            </a:r>
            <a:endParaRPr lang="en-US" sz="1300" dirty="0"/>
          </a:p>
          <a:p>
            <a:pPr marL="342900" indent="-342900">
              <a:buSzPct val="100000"/>
              <a:buChar char="•"/>
            </a:pPr>
            <a:r>
              <a:rPr lang="en-US" sz="1200" dirty="0">
                <a:solidFill>
                  <a:srgbClr val="2C3050"/>
                </a:solidFill>
                <a:latin typeface="Calibri" pitchFamily="34" charset="0"/>
                <a:ea typeface="Calibri" pitchFamily="34" charset="-122"/>
                <a:cs typeface="Calibri" pitchFamily="34" charset="-120"/>
              </a:rPr>
              <a:t>Director of Research, Google (2001–2021)</a:t>
            </a:r>
            <a:endParaRPr lang="en-US" sz="1300" dirty="0"/>
          </a:p>
          <a:p>
            <a:pPr marL="342900" indent="-342900">
              <a:buSzPct val="100000"/>
              <a:buChar char="•"/>
            </a:pPr>
            <a:r>
              <a:rPr lang="en-US" sz="1200" dirty="0">
                <a:solidFill>
                  <a:srgbClr val="2C3050"/>
                </a:solidFill>
                <a:latin typeface="Calibri" pitchFamily="34" charset="0"/>
                <a:ea typeface="Calibri" pitchFamily="34" charset="-122"/>
                <a:cs typeface="Calibri" pitchFamily="34" charset="-120"/>
              </a:rPr>
              <a:t>Distinguished Fellow, Stanford HAI</a:t>
            </a:r>
            <a:endParaRPr lang="en-US" sz="1300" dirty="0"/>
          </a:p>
        </p:txBody>
      </p:sp>
      <p:sp>
        <p:nvSpPr>
          <p:cNvPr id="7" name="Shape 5"/>
          <p:cNvSpPr/>
          <p:nvPr/>
        </p:nvSpPr>
        <p:spPr>
          <a:xfrm>
            <a:off x="4846320" y="1097280"/>
            <a:ext cx="3749040" cy="10058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Text 6"/>
          <p:cNvSpPr/>
          <p:nvPr/>
        </p:nvSpPr>
        <p:spPr>
          <a:xfrm>
            <a:off x="5029200" y="1188720"/>
            <a:ext cx="1097280" cy="822960"/>
          </a:xfrm>
          <a:prstGeom prst="rect">
            <a:avLst/>
          </a:prstGeom>
          <a:noFill/>
          <a:ln/>
        </p:spPr>
        <p:txBody>
          <a:bodyPr wrap="square" lIns="0" tIns="0" rIns="0" bIns="0" rtlCol="0" anchor="ctr"/>
          <a:lstStyle/>
          <a:p>
            <a:pPr algn="ctr" indent="0" marL="0">
              <a:buNone/>
            </a:pPr>
            <a:r>
              <a:rPr lang="en-US" sz="3600" b="1" dirty="0">
                <a:solidFill>
                  <a:srgbClr val="E8A838"/>
                </a:solidFill>
                <a:latin typeface="Georgia" pitchFamily="34" charset="0"/>
                <a:ea typeface="Georgia" pitchFamily="34" charset="-122"/>
                <a:cs typeface="Georgia" pitchFamily="34" charset="-120"/>
              </a:rPr>
              <a:t>50+</a:t>
            </a:r>
            <a:endParaRPr lang="en-US" sz="3600" dirty="0"/>
          </a:p>
        </p:txBody>
      </p:sp>
      <p:sp>
        <p:nvSpPr>
          <p:cNvPr id="9" name="Text 7"/>
          <p:cNvSpPr/>
          <p:nvPr/>
        </p:nvSpPr>
        <p:spPr>
          <a:xfrm>
            <a:off x="6126480" y="1188720"/>
            <a:ext cx="2286000" cy="822960"/>
          </a:xfrm>
          <a:prstGeom prst="rect">
            <a:avLst/>
          </a:prstGeom>
          <a:noFill/>
          <a:ln/>
        </p:spPr>
        <p:txBody>
          <a:bodyPr wrap="square" lIns="0" tIns="0" rIns="0" bIns="0" rtlCol="0" anchor="ctr"/>
          <a:lstStyle/>
          <a:p>
            <a:pPr algn="l" indent="0" marL="0">
              <a:buNone/>
            </a:pPr>
            <a:r>
              <a:rPr lang="en-US" sz="1100" dirty="0">
                <a:solidFill>
                  <a:srgbClr val="2C3050"/>
                </a:solidFill>
                <a:latin typeface="Calibri" pitchFamily="34" charset="0"/>
                <a:ea typeface="Calibri" pitchFamily="34" charset="-122"/>
                <a:cs typeface="Calibri" pitchFamily="34" charset="-120"/>
              </a:rPr>
              <a:t>Publications in AI, NLP,</a:t>
            </a:r>
            <a:endParaRPr lang="en-US" sz="1100" dirty="0"/>
          </a:p>
          <a:p>
            <a:pPr algn="l" indent="0" marL="0">
              <a:buNone/>
            </a:pPr>
            <a:r>
              <a:rPr lang="en-US" sz="1100" dirty="0">
                <a:solidFill>
                  <a:srgbClr val="2C3050"/>
                </a:solidFill>
                <a:latin typeface="Calibri" pitchFamily="34" charset="0"/>
                <a:ea typeface="Calibri" pitchFamily="34" charset="-122"/>
                <a:cs typeface="Calibri" pitchFamily="34" charset="-120"/>
              </a:rPr>
              <a:t>and Software Engineering</a:t>
            </a:r>
            <a:endParaRPr lang="en-US" sz="1100" dirty="0"/>
          </a:p>
        </p:txBody>
      </p:sp>
      <p:sp>
        <p:nvSpPr>
          <p:cNvPr id="10" name="Shape 8"/>
          <p:cNvSpPr/>
          <p:nvPr/>
        </p:nvSpPr>
        <p:spPr>
          <a:xfrm>
            <a:off x="4846320" y="2331720"/>
            <a:ext cx="3749040" cy="10058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Text 9"/>
          <p:cNvSpPr/>
          <p:nvPr/>
        </p:nvSpPr>
        <p:spPr>
          <a:xfrm>
            <a:off x="5029200" y="2423160"/>
            <a:ext cx="1097280" cy="822960"/>
          </a:xfrm>
          <a:prstGeom prst="rect">
            <a:avLst/>
          </a:prstGeom>
          <a:noFill/>
          <a:ln/>
        </p:spPr>
        <p:txBody>
          <a:bodyPr wrap="square" lIns="0" tIns="0" rIns="0" bIns="0" rtlCol="0" anchor="ctr"/>
          <a:lstStyle/>
          <a:p>
            <a:pPr algn="ctr" indent="0" marL="0">
              <a:buNone/>
            </a:pPr>
            <a:r>
              <a:rPr lang="en-US" sz="3600" b="1" dirty="0">
                <a:solidFill>
                  <a:srgbClr val="E8A838"/>
                </a:solidFill>
                <a:latin typeface="Georgia" pitchFamily="34" charset="0"/>
                <a:ea typeface="Georgia" pitchFamily="34" charset="-122"/>
                <a:cs typeface="Georgia" pitchFamily="34" charset="-120"/>
              </a:rPr>
              <a:t>4</a:t>
            </a:r>
            <a:endParaRPr lang="en-US" sz="3600" dirty="0"/>
          </a:p>
        </p:txBody>
      </p:sp>
      <p:sp>
        <p:nvSpPr>
          <p:cNvPr id="12" name="Text 10"/>
          <p:cNvSpPr/>
          <p:nvPr/>
        </p:nvSpPr>
        <p:spPr>
          <a:xfrm>
            <a:off x="6126480" y="2423160"/>
            <a:ext cx="2286000" cy="822960"/>
          </a:xfrm>
          <a:prstGeom prst="rect">
            <a:avLst/>
          </a:prstGeom>
          <a:noFill/>
          <a:ln/>
        </p:spPr>
        <p:txBody>
          <a:bodyPr wrap="square" lIns="0" tIns="0" rIns="0" bIns="0" rtlCol="0" anchor="ctr"/>
          <a:lstStyle/>
          <a:p>
            <a:pPr algn="l" indent="0" marL="0">
              <a:buNone/>
            </a:pPr>
            <a:r>
              <a:rPr lang="en-US" sz="1100" dirty="0">
                <a:solidFill>
                  <a:srgbClr val="2C3050"/>
                </a:solidFill>
                <a:latin typeface="Calibri" pitchFamily="34" charset="0"/>
                <a:ea typeface="Calibri" pitchFamily="34" charset="-122"/>
                <a:cs typeface="Calibri" pitchFamily="34" charset="-120"/>
              </a:rPr>
              <a:t>Decades of Pioneering</a:t>
            </a:r>
            <a:endParaRPr lang="en-US" sz="1100" dirty="0"/>
          </a:p>
          <a:p>
            <a:pPr algn="l" indent="0" marL="0">
              <a:buNone/>
            </a:pPr>
            <a:r>
              <a:rPr lang="en-US" sz="1100" dirty="0">
                <a:solidFill>
                  <a:srgbClr val="2C3050"/>
                </a:solidFill>
                <a:latin typeface="Calibri" pitchFamily="34" charset="0"/>
                <a:ea typeface="Calibri" pitchFamily="34" charset="-122"/>
                <a:cs typeface="Calibri" pitchFamily="34" charset="-120"/>
              </a:rPr>
              <a:t>AI Research</a:t>
            </a:r>
            <a:endParaRPr lang="en-US" sz="1100" dirty="0"/>
          </a:p>
        </p:txBody>
      </p:sp>
      <p:sp>
        <p:nvSpPr>
          <p:cNvPr id="13" name="Shape 11"/>
          <p:cNvSpPr/>
          <p:nvPr/>
        </p:nvSpPr>
        <p:spPr>
          <a:xfrm>
            <a:off x="4846320" y="3566160"/>
            <a:ext cx="3749040" cy="10058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Text 12"/>
          <p:cNvSpPr/>
          <p:nvPr/>
        </p:nvSpPr>
        <p:spPr>
          <a:xfrm>
            <a:off x="5029200" y="3657600"/>
            <a:ext cx="1097280" cy="822960"/>
          </a:xfrm>
          <a:prstGeom prst="rect">
            <a:avLst/>
          </a:prstGeom>
          <a:noFill/>
          <a:ln/>
        </p:spPr>
        <p:txBody>
          <a:bodyPr wrap="square" lIns="0" tIns="0" rIns="0" bIns="0" rtlCol="0" anchor="ctr"/>
          <a:lstStyle/>
          <a:p>
            <a:pPr algn="ctr" indent="0" marL="0">
              <a:buNone/>
            </a:pPr>
            <a:r>
              <a:rPr lang="en-US" sz="3600" b="1" dirty="0">
                <a:solidFill>
                  <a:srgbClr val="E8A838"/>
                </a:solidFill>
                <a:latin typeface="Georgia" pitchFamily="34" charset="0"/>
                <a:ea typeface="Georgia" pitchFamily="34" charset="-122"/>
                <a:cs typeface="Georgia" pitchFamily="34" charset="-120"/>
              </a:rPr>
              <a:t>5</a:t>
            </a:r>
            <a:endParaRPr lang="en-US" sz="3600" dirty="0"/>
          </a:p>
        </p:txBody>
      </p:sp>
      <p:sp>
        <p:nvSpPr>
          <p:cNvPr id="15" name="Text 13"/>
          <p:cNvSpPr/>
          <p:nvPr/>
        </p:nvSpPr>
        <p:spPr>
          <a:xfrm>
            <a:off x="6126480" y="3657600"/>
            <a:ext cx="2286000" cy="822960"/>
          </a:xfrm>
          <a:prstGeom prst="rect">
            <a:avLst/>
          </a:prstGeom>
          <a:noFill/>
          <a:ln/>
        </p:spPr>
        <p:txBody>
          <a:bodyPr wrap="square" lIns="0" tIns="0" rIns="0" bIns="0" rtlCol="0" anchor="ctr"/>
          <a:lstStyle/>
          <a:p>
            <a:pPr algn="l" indent="0" marL="0">
              <a:buNone/>
            </a:pPr>
            <a:r>
              <a:rPr lang="en-US" sz="1100" dirty="0">
                <a:solidFill>
                  <a:srgbClr val="2C3050"/>
                </a:solidFill>
                <a:latin typeface="Calibri" pitchFamily="34" charset="0"/>
                <a:ea typeface="Calibri" pitchFamily="34" charset="-122"/>
                <a:cs typeface="Calibri" pitchFamily="34" charset="-120"/>
              </a:rPr>
              <a:t>Fellowships (AAAI, ACM,</a:t>
            </a:r>
            <a:endParaRPr lang="en-US" sz="1100" dirty="0"/>
          </a:p>
          <a:p>
            <a:pPr algn="l" indent="0" marL="0">
              <a:buNone/>
            </a:pPr>
            <a:r>
              <a:rPr lang="en-US" sz="1100" dirty="0">
                <a:solidFill>
                  <a:srgbClr val="2C3050"/>
                </a:solidFill>
                <a:latin typeface="Calibri" pitchFamily="34" charset="0"/>
                <a:ea typeface="Calibri" pitchFamily="34" charset="-122"/>
                <a:cs typeface="Calibri" pitchFamily="34" charset="-120"/>
              </a:rPr>
              <a:t>California Academy, &amp; more)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A838"/>
          </a:solidFill>
          <a:ln/>
        </p:spPr>
      </p:sp>
      <p:pic>
        <p:nvPicPr>
          <p:cNvPr id="3" name="Image 0" descr="preencoded.png">    </p:cNvPr>
          <p:cNvPicPr>
            <a:picLocks noChangeAspect="1"/>
          </p:cNvPicPr>
          <p:nvPr/>
        </p:nvPicPr>
        <p:blipFill>
          <a:blip r:embed="rId1"/>
          <a:stretch>
            <a:fillRect/>
          </a:stretch>
        </p:blipFill>
        <p:spPr>
          <a:xfrm>
            <a:off x="548640" y="274320"/>
            <a:ext cx="411480" cy="411480"/>
          </a:xfrm>
          <a:prstGeom prst="rect">
            <a:avLst/>
          </a:prstGeom>
        </p:spPr>
      </p:pic>
      <p:sp>
        <p:nvSpPr>
          <p:cNvPr id="4" name="Text 1"/>
          <p:cNvSpPr/>
          <p:nvPr/>
        </p:nvSpPr>
        <p:spPr>
          <a:xfrm>
            <a:off x="1097280" y="274320"/>
            <a:ext cx="7498080" cy="548640"/>
          </a:xfrm>
          <a:prstGeom prst="rect">
            <a:avLst/>
          </a:prstGeom>
          <a:noFill/>
          <a:ln/>
        </p:spPr>
        <p:txBody>
          <a:bodyPr wrap="square" lIns="0" tIns="0" rIns="0" bIns="0" rtlCol="0" anchor="ctr"/>
          <a:lstStyle/>
          <a:p>
            <a:pPr indent="0" marL="0">
              <a:buNone/>
            </a:pPr>
            <a:r>
              <a:rPr lang="en-US" sz="3000" b="1" dirty="0">
                <a:solidFill>
                  <a:srgbClr val="1A1F3D"/>
                </a:solidFill>
                <a:latin typeface="Georgia" pitchFamily="34" charset="0"/>
                <a:ea typeface="Georgia" pitchFamily="34" charset="-122"/>
                <a:cs typeface="Georgia" pitchFamily="34" charset="-120"/>
              </a:rPr>
              <a:t>The Definitive AI Textbook</a:t>
            </a:r>
            <a:endParaRPr lang="en-US" sz="3000" dirty="0"/>
          </a:p>
        </p:txBody>
      </p:sp>
      <p:sp>
        <p:nvSpPr>
          <p:cNvPr id="5" name="Text 2"/>
          <p:cNvSpPr/>
          <p:nvPr/>
        </p:nvSpPr>
        <p:spPr>
          <a:xfrm>
            <a:off x="1097280" y="731520"/>
            <a:ext cx="7498080" cy="320040"/>
          </a:xfrm>
          <a:prstGeom prst="rect">
            <a:avLst/>
          </a:prstGeom>
          <a:noFill/>
          <a:ln/>
        </p:spPr>
        <p:txBody>
          <a:bodyPr wrap="square" lIns="0" tIns="0" rIns="0" bIns="0" rtlCol="0" anchor="ctr"/>
          <a:lstStyle/>
          <a:p>
            <a:pPr indent="0" marL="0">
              <a:buNone/>
            </a:pPr>
            <a:r>
              <a:rPr lang="en-US" sz="1400" i="1" dirty="0">
                <a:solidFill>
                  <a:srgbClr val="6B7094"/>
                </a:solidFill>
                <a:latin typeface="Calibri" pitchFamily="34" charset="0"/>
                <a:ea typeface="Calibri" pitchFamily="34" charset="-122"/>
                <a:cs typeface="Calibri" pitchFamily="34" charset="-120"/>
              </a:rPr>
              <a:t>Artificial Intelligence: A Modern Approach</a:t>
            </a:r>
            <a:endParaRPr lang="en-US" sz="1400" dirty="0"/>
          </a:p>
        </p:txBody>
      </p:sp>
      <p:sp>
        <p:nvSpPr>
          <p:cNvPr id="6" name="Shape 3"/>
          <p:cNvSpPr/>
          <p:nvPr/>
        </p:nvSpPr>
        <p:spPr>
          <a:xfrm>
            <a:off x="548640" y="1280160"/>
            <a:ext cx="2560320" cy="20116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Text 4"/>
          <p:cNvSpPr/>
          <p:nvPr/>
        </p:nvSpPr>
        <p:spPr>
          <a:xfrm>
            <a:off x="548640" y="1417320"/>
            <a:ext cx="2560320" cy="640080"/>
          </a:xfrm>
          <a:prstGeom prst="rect">
            <a:avLst/>
          </a:prstGeom>
          <a:noFill/>
          <a:ln/>
        </p:spPr>
        <p:txBody>
          <a:bodyPr wrap="square" lIns="0" tIns="0" rIns="0" bIns="0" rtlCol="0" anchor="ctr"/>
          <a:lstStyle/>
          <a:p>
            <a:pPr algn="ctr" indent="0" marL="0">
              <a:buNone/>
            </a:pPr>
            <a:r>
              <a:rPr lang="en-US" sz="3800" b="1" dirty="0">
                <a:solidFill>
                  <a:srgbClr val="E8A838"/>
                </a:solidFill>
                <a:latin typeface="Georgia" pitchFamily="34" charset="0"/>
                <a:ea typeface="Georgia" pitchFamily="34" charset="-122"/>
                <a:cs typeface="Georgia" pitchFamily="34" charset="-120"/>
              </a:rPr>
              <a:t>1,500+</a:t>
            </a:r>
            <a:endParaRPr lang="en-US" sz="3800" dirty="0"/>
          </a:p>
        </p:txBody>
      </p:sp>
      <p:sp>
        <p:nvSpPr>
          <p:cNvPr id="8" name="Text 5"/>
          <p:cNvSpPr/>
          <p:nvPr/>
        </p:nvSpPr>
        <p:spPr>
          <a:xfrm>
            <a:off x="548640" y="2057400"/>
            <a:ext cx="2560320" cy="594360"/>
          </a:xfrm>
          <a:prstGeom prst="rect">
            <a:avLst/>
          </a:prstGeom>
          <a:noFill/>
          <a:ln/>
        </p:spPr>
        <p:txBody>
          <a:bodyPr wrap="square" lIns="0" tIns="0" rIns="0" bIns="0" rtlCol="0" anchor="ctr"/>
          <a:lstStyle/>
          <a:p>
            <a:pPr algn="ctr" indent="0" marL="0">
              <a:buNone/>
            </a:pPr>
            <a:r>
              <a:rPr lang="en-US" sz="1400" b="1" dirty="0">
                <a:solidFill>
                  <a:srgbClr val="1A1F3D"/>
                </a:solidFill>
                <a:latin typeface="Calibri" pitchFamily="34" charset="0"/>
                <a:ea typeface="Calibri" pitchFamily="34" charset="-122"/>
                <a:cs typeface="Calibri" pitchFamily="34" charset="-120"/>
              </a:rPr>
              <a:t>Universities</a:t>
            </a:r>
            <a:endParaRPr lang="en-US" sz="1400" dirty="0"/>
          </a:p>
          <a:p>
            <a:pPr algn="ctr" indent="0" marL="0">
              <a:buNone/>
            </a:pPr>
            <a:r>
              <a:rPr lang="en-US" sz="1400" b="1" dirty="0">
                <a:solidFill>
                  <a:srgbClr val="1A1F3D"/>
                </a:solidFill>
                <a:latin typeface="Calibri" pitchFamily="34" charset="0"/>
                <a:ea typeface="Calibri" pitchFamily="34" charset="-122"/>
                <a:cs typeface="Calibri" pitchFamily="34" charset="-120"/>
              </a:rPr>
              <a:t>Worldwide</a:t>
            </a:r>
            <a:endParaRPr lang="en-US" sz="1400" dirty="0"/>
          </a:p>
        </p:txBody>
      </p:sp>
      <p:sp>
        <p:nvSpPr>
          <p:cNvPr id="9" name="Text 6"/>
          <p:cNvSpPr/>
          <p:nvPr/>
        </p:nvSpPr>
        <p:spPr>
          <a:xfrm>
            <a:off x="548640" y="2651760"/>
            <a:ext cx="2560320" cy="411480"/>
          </a:xfrm>
          <a:prstGeom prst="rect">
            <a:avLst/>
          </a:prstGeom>
          <a:noFill/>
          <a:ln/>
        </p:spPr>
        <p:txBody>
          <a:bodyPr wrap="square" lIns="0" tIns="0" rIns="0" bIns="0" rtlCol="0" anchor="t"/>
          <a:lstStyle/>
          <a:p>
            <a:pPr algn="ctr" indent="0" marL="0">
              <a:buNone/>
            </a:pPr>
            <a:r>
              <a:rPr lang="en-US" sz="1000" dirty="0">
                <a:solidFill>
                  <a:srgbClr val="6B7094"/>
                </a:solidFill>
                <a:latin typeface="Calibri" pitchFamily="34" charset="0"/>
                <a:ea typeface="Calibri" pitchFamily="34" charset="-122"/>
                <a:cs typeface="Calibri" pitchFamily="34" charset="-120"/>
              </a:rPr>
              <a:t>across 135 countries</a:t>
            </a:r>
            <a:endParaRPr lang="en-US" sz="1000" dirty="0"/>
          </a:p>
        </p:txBody>
      </p:sp>
      <p:sp>
        <p:nvSpPr>
          <p:cNvPr id="10" name="Shape 7"/>
          <p:cNvSpPr/>
          <p:nvPr/>
        </p:nvSpPr>
        <p:spPr>
          <a:xfrm>
            <a:off x="3383280" y="1280160"/>
            <a:ext cx="2560320" cy="20116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Text 8"/>
          <p:cNvSpPr/>
          <p:nvPr/>
        </p:nvSpPr>
        <p:spPr>
          <a:xfrm>
            <a:off x="3383280" y="1417320"/>
            <a:ext cx="2560320" cy="640080"/>
          </a:xfrm>
          <a:prstGeom prst="rect">
            <a:avLst/>
          </a:prstGeom>
          <a:noFill/>
          <a:ln/>
        </p:spPr>
        <p:txBody>
          <a:bodyPr wrap="square" lIns="0" tIns="0" rIns="0" bIns="0" rtlCol="0" anchor="ctr"/>
          <a:lstStyle/>
          <a:p>
            <a:pPr algn="ctr" indent="0" marL="0">
              <a:buNone/>
            </a:pPr>
            <a:r>
              <a:rPr lang="en-US" sz="3800" b="1" dirty="0">
                <a:solidFill>
                  <a:srgbClr val="E8A838"/>
                </a:solidFill>
                <a:latin typeface="Georgia" pitchFamily="34" charset="0"/>
                <a:ea typeface="Georgia" pitchFamily="34" charset="-122"/>
                <a:cs typeface="Georgia" pitchFamily="34" charset="-120"/>
              </a:rPr>
              <a:t>500K+</a:t>
            </a:r>
            <a:endParaRPr lang="en-US" sz="3800" dirty="0"/>
          </a:p>
        </p:txBody>
      </p:sp>
      <p:sp>
        <p:nvSpPr>
          <p:cNvPr id="12" name="Text 9"/>
          <p:cNvSpPr/>
          <p:nvPr/>
        </p:nvSpPr>
        <p:spPr>
          <a:xfrm>
            <a:off x="3383280" y="2057400"/>
            <a:ext cx="2560320" cy="594360"/>
          </a:xfrm>
          <a:prstGeom prst="rect">
            <a:avLst/>
          </a:prstGeom>
          <a:noFill/>
          <a:ln/>
        </p:spPr>
        <p:txBody>
          <a:bodyPr wrap="square" lIns="0" tIns="0" rIns="0" bIns="0" rtlCol="0" anchor="ctr"/>
          <a:lstStyle/>
          <a:p>
            <a:pPr algn="ctr" indent="0" marL="0">
              <a:buNone/>
            </a:pPr>
            <a:r>
              <a:rPr lang="en-US" sz="1400" b="1" dirty="0">
                <a:solidFill>
                  <a:srgbClr val="1A1F3D"/>
                </a:solidFill>
                <a:latin typeface="Calibri" pitchFamily="34" charset="0"/>
                <a:ea typeface="Calibri" pitchFamily="34" charset="-122"/>
                <a:cs typeface="Calibri" pitchFamily="34" charset="-120"/>
              </a:rPr>
              <a:t>Copies</a:t>
            </a:r>
            <a:endParaRPr lang="en-US" sz="1400" dirty="0"/>
          </a:p>
          <a:p>
            <a:pPr algn="ctr" indent="0" marL="0">
              <a:buNone/>
            </a:pPr>
            <a:r>
              <a:rPr lang="en-US" sz="1400" b="1" dirty="0">
                <a:solidFill>
                  <a:srgbClr val="1A1F3D"/>
                </a:solidFill>
                <a:latin typeface="Calibri" pitchFamily="34" charset="0"/>
                <a:ea typeface="Calibri" pitchFamily="34" charset="-122"/>
                <a:cs typeface="Calibri" pitchFamily="34" charset="-120"/>
              </a:rPr>
              <a:t>Sold</a:t>
            </a:r>
            <a:endParaRPr lang="en-US" sz="1400" dirty="0"/>
          </a:p>
        </p:txBody>
      </p:sp>
      <p:sp>
        <p:nvSpPr>
          <p:cNvPr id="13" name="Text 10"/>
          <p:cNvSpPr/>
          <p:nvPr/>
        </p:nvSpPr>
        <p:spPr>
          <a:xfrm>
            <a:off x="3383280" y="2651760"/>
            <a:ext cx="2560320" cy="411480"/>
          </a:xfrm>
          <a:prstGeom prst="rect">
            <a:avLst/>
          </a:prstGeom>
          <a:noFill/>
          <a:ln/>
        </p:spPr>
        <p:txBody>
          <a:bodyPr wrap="square" lIns="0" tIns="0" rIns="0" bIns="0" rtlCol="0" anchor="t"/>
          <a:lstStyle/>
          <a:p>
            <a:pPr algn="ctr" indent="0" marL="0">
              <a:buNone/>
            </a:pPr>
            <a:r>
              <a:rPr lang="en-US" sz="1000" dirty="0">
                <a:solidFill>
                  <a:srgbClr val="6B7094"/>
                </a:solidFill>
                <a:latin typeface="Calibri" pitchFamily="34" charset="0"/>
                <a:ea typeface="Calibri" pitchFamily="34" charset="-122"/>
                <a:cs typeface="Calibri" pitchFamily="34" charset="-120"/>
              </a:rPr>
              <a:t>4 editions since 1995</a:t>
            </a:r>
            <a:endParaRPr lang="en-US" sz="1000" dirty="0"/>
          </a:p>
        </p:txBody>
      </p:sp>
      <p:sp>
        <p:nvSpPr>
          <p:cNvPr id="14" name="Shape 11"/>
          <p:cNvSpPr/>
          <p:nvPr/>
        </p:nvSpPr>
        <p:spPr>
          <a:xfrm>
            <a:off x="6217920" y="1280160"/>
            <a:ext cx="2560320" cy="20116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5" name="Text 12"/>
          <p:cNvSpPr/>
          <p:nvPr/>
        </p:nvSpPr>
        <p:spPr>
          <a:xfrm>
            <a:off x="6217920" y="1417320"/>
            <a:ext cx="2560320" cy="640080"/>
          </a:xfrm>
          <a:prstGeom prst="rect">
            <a:avLst/>
          </a:prstGeom>
          <a:noFill/>
          <a:ln/>
        </p:spPr>
        <p:txBody>
          <a:bodyPr wrap="square" lIns="0" tIns="0" rIns="0" bIns="0" rtlCol="0" anchor="ctr"/>
          <a:lstStyle/>
          <a:p>
            <a:pPr algn="ctr" indent="0" marL="0">
              <a:buNone/>
            </a:pPr>
            <a:r>
              <a:rPr lang="en-US" sz="3800" b="1" dirty="0">
                <a:solidFill>
                  <a:srgbClr val="E8A838"/>
                </a:solidFill>
                <a:latin typeface="Georgia" pitchFamily="34" charset="0"/>
                <a:ea typeface="Georgia" pitchFamily="34" charset="-122"/>
                <a:cs typeface="Georgia" pitchFamily="34" charset="-120"/>
              </a:rPr>
              <a:t>48K+</a:t>
            </a:r>
            <a:endParaRPr lang="en-US" sz="3800" dirty="0"/>
          </a:p>
        </p:txBody>
      </p:sp>
      <p:sp>
        <p:nvSpPr>
          <p:cNvPr id="16" name="Text 13"/>
          <p:cNvSpPr/>
          <p:nvPr/>
        </p:nvSpPr>
        <p:spPr>
          <a:xfrm>
            <a:off x="6217920" y="2057400"/>
            <a:ext cx="2560320" cy="594360"/>
          </a:xfrm>
          <a:prstGeom prst="rect">
            <a:avLst/>
          </a:prstGeom>
          <a:noFill/>
          <a:ln/>
        </p:spPr>
        <p:txBody>
          <a:bodyPr wrap="square" lIns="0" tIns="0" rIns="0" bIns="0" rtlCol="0" anchor="ctr"/>
          <a:lstStyle/>
          <a:p>
            <a:pPr algn="ctr" indent="0" marL="0">
              <a:buNone/>
            </a:pPr>
            <a:r>
              <a:rPr lang="en-US" sz="1400" b="1" dirty="0">
                <a:solidFill>
                  <a:srgbClr val="1A1F3D"/>
                </a:solidFill>
                <a:latin typeface="Calibri" pitchFamily="34" charset="0"/>
                <a:ea typeface="Calibri" pitchFamily="34" charset="-122"/>
                <a:cs typeface="Calibri" pitchFamily="34" charset="-120"/>
              </a:rPr>
              <a:t>Academic</a:t>
            </a:r>
            <a:endParaRPr lang="en-US" sz="1400" dirty="0"/>
          </a:p>
          <a:p>
            <a:pPr algn="ctr" indent="0" marL="0">
              <a:buNone/>
            </a:pPr>
            <a:r>
              <a:rPr lang="en-US" sz="1400" b="1" dirty="0">
                <a:solidFill>
                  <a:srgbClr val="1A1F3D"/>
                </a:solidFill>
                <a:latin typeface="Calibri" pitchFamily="34" charset="0"/>
                <a:ea typeface="Calibri" pitchFamily="34" charset="-122"/>
                <a:cs typeface="Calibri" pitchFamily="34" charset="-120"/>
              </a:rPr>
              <a:t>Citations</a:t>
            </a:r>
            <a:endParaRPr lang="en-US" sz="1400" dirty="0"/>
          </a:p>
        </p:txBody>
      </p:sp>
      <p:sp>
        <p:nvSpPr>
          <p:cNvPr id="17" name="Text 14"/>
          <p:cNvSpPr/>
          <p:nvPr/>
        </p:nvSpPr>
        <p:spPr>
          <a:xfrm>
            <a:off x="6217920" y="2651760"/>
            <a:ext cx="2560320" cy="411480"/>
          </a:xfrm>
          <a:prstGeom prst="rect">
            <a:avLst/>
          </a:prstGeom>
          <a:noFill/>
          <a:ln/>
        </p:spPr>
        <p:txBody>
          <a:bodyPr wrap="square" lIns="0" tIns="0" rIns="0" bIns="0" rtlCol="0" anchor="t"/>
          <a:lstStyle/>
          <a:p>
            <a:pPr algn="ctr" indent="0" marL="0">
              <a:buNone/>
            </a:pPr>
            <a:r>
              <a:rPr lang="en-US" sz="1000" dirty="0">
                <a:solidFill>
                  <a:srgbClr val="6B7094"/>
                </a:solidFill>
                <a:latin typeface="Calibri" pitchFamily="34" charset="0"/>
                <a:ea typeface="Calibri" pitchFamily="34" charset="-122"/>
                <a:cs typeface="Calibri" pitchFamily="34" charset="-120"/>
              </a:rPr>
              <a:t>Top 10 in CS (Open Syllabus)</a:t>
            </a:r>
            <a:endParaRPr lang="en-US" sz="1000" dirty="0"/>
          </a:p>
        </p:txBody>
      </p:sp>
      <p:sp>
        <p:nvSpPr>
          <p:cNvPr id="18" name="Shape 15"/>
          <p:cNvSpPr/>
          <p:nvPr/>
        </p:nvSpPr>
        <p:spPr>
          <a:xfrm>
            <a:off x="548640" y="3566160"/>
            <a:ext cx="8046720" cy="1188720"/>
          </a:xfrm>
          <a:prstGeom prst="rect">
            <a:avLst/>
          </a:prstGeom>
          <a:solidFill>
            <a:srgbClr val="252B54"/>
          </a:solidFill>
          <a:ln/>
          <a:effectLst>
            <a:outerShdw sx="100000" sy="100000" kx="0" ky="0" algn="bl" rotWithShape="0" blurRad="101600" dist="38100" dir="8100000">
              <a:srgbClr val="000000">
                <a:alpha val="12000"/>
              </a:srgbClr>
            </a:outerShdw>
          </a:effectLst>
        </p:spPr>
      </p:sp>
      <p:sp>
        <p:nvSpPr>
          <p:cNvPr id="19" name="Text 16"/>
          <p:cNvSpPr/>
          <p:nvPr/>
        </p:nvSpPr>
        <p:spPr>
          <a:xfrm>
            <a:off x="914400" y="3657600"/>
            <a:ext cx="7406640" cy="1005840"/>
          </a:xfrm>
          <a:prstGeom prst="rect">
            <a:avLst/>
          </a:prstGeom>
          <a:noFill/>
          <a:ln/>
        </p:spPr>
        <p:txBody>
          <a:bodyPr wrap="square" lIns="0" tIns="0" rIns="0" bIns="0" rtlCol="0" anchor="ctr"/>
          <a:lstStyle/>
          <a:p>
            <a:pPr indent="0" marL="0">
              <a:buNone/>
            </a:pPr>
            <a:r>
              <a:rPr lang="en-US" sz="1300" b="1" dirty="0">
                <a:solidFill>
                  <a:srgbClr val="E8A838"/>
                </a:solidFill>
                <a:latin typeface="Calibri" pitchFamily="34" charset="0"/>
                <a:ea typeface="Calibri" pitchFamily="34" charset="-122"/>
                <a:cs typeface="Calibri" pitchFamily="34" charset="-120"/>
              </a:rPr>
              <a:t>Why It Matters: </a:t>
            </a:r>
            <a:pPr indent="0" marL="0">
              <a:buNone/>
            </a:pPr>
            <a:r>
              <a:rPr lang="en-US" sz="1200" dirty="0">
                <a:solidFill>
                  <a:srgbClr val="FFFFFF"/>
                </a:solidFill>
                <a:latin typeface="Calibri" pitchFamily="34" charset="0"/>
                <a:ea typeface="Calibri" pitchFamily="34" charset="-122"/>
                <a:cs typeface="Calibri" pitchFamily="34" charset="-120"/>
              </a:rPr>
              <a:t>AIMA unified AI education around the concept of intelligent agents, replacing fragmented topic coverage with a coherent framework. It also includes an open source code repository with 9,000+ GitHub stars, making AI not just learnable but buildable.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A838"/>
          </a:solidFill>
          <a:ln/>
        </p:spPr>
      </p:sp>
      <p:pic>
        <p:nvPicPr>
          <p:cNvPr id="3" name="Image 0" descr="preencoded.png">    </p:cNvPr>
          <p:cNvPicPr>
            <a:picLocks noChangeAspect="1"/>
          </p:cNvPicPr>
          <p:nvPr/>
        </p:nvPicPr>
        <p:blipFill>
          <a:blip r:embed="rId1"/>
          <a:stretch>
            <a:fillRect/>
          </a:stretch>
        </p:blipFill>
        <p:spPr>
          <a:xfrm>
            <a:off x="548640" y="274320"/>
            <a:ext cx="411480" cy="411480"/>
          </a:xfrm>
          <a:prstGeom prst="rect">
            <a:avLst/>
          </a:prstGeom>
        </p:spPr>
      </p:pic>
      <p:sp>
        <p:nvSpPr>
          <p:cNvPr id="4" name="Text 1"/>
          <p:cNvSpPr/>
          <p:nvPr/>
        </p:nvSpPr>
        <p:spPr>
          <a:xfrm>
            <a:off x="1097280" y="274320"/>
            <a:ext cx="7498080" cy="548640"/>
          </a:xfrm>
          <a:prstGeom prst="rect">
            <a:avLst/>
          </a:prstGeom>
          <a:noFill/>
          <a:ln/>
        </p:spPr>
        <p:txBody>
          <a:bodyPr wrap="square" lIns="0" tIns="0" rIns="0" bIns="0" rtlCol="0" anchor="ctr"/>
          <a:lstStyle/>
          <a:p>
            <a:pPr indent="0" marL="0">
              <a:buNone/>
            </a:pPr>
            <a:r>
              <a:rPr lang="en-US" sz="3000" b="1" dirty="0">
                <a:solidFill>
                  <a:srgbClr val="1A1F3D"/>
                </a:solidFill>
                <a:latin typeface="Georgia" pitchFamily="34" charset="0"/>
                <a:ea typeface="Georgia" pitchFamily="34" charset="-122"/>
                <a:cs typeface="Georgia" pitchFamily="34" charset="-120"/>
              </a:rPr>
              <a:t>AI in Space: NASA's Remote Agent</a:t>
            </a:r>
            <a:endParaRPr lang="en-US" sz="3000" dirty="0"/>
          </a:p>
        </p:txBody>
      </p:sp>
      <p:sp>
        <p:nvSpPr>
          <p:cNvPr id="5" name="Shape 2"/>
          <p:cNvSpPr/>
          <p:nvPr/>
        </p:nvSpPr>
        <p:spPr>
          <a:xfrm>
            <a:off x="548640" y="1097280"/>
            <a:ext cx="1005840" cy="777240"/>
          </a:xfrm>
          <a:prstGeom prst="rect">
            <a:avLst/>
          </a:prstGeom>
          <a:solidFill>
            <a:srgbClr val="1A1F3D"/>
          </a:solidFill>
          <a:ln/>
        </p:spPr>
      </p:sp>
      <p:sp>
        <p:nvSpPr>
          <p:cNvPr id="6" name="Text 3"/>
          <p:cNvSpPr/>
          <p:nvPr/>
        </p:nvSpPr>
        <p:spPr>
          <a:xfrm>
            <a:off x="548640" y="1097280"/>
            <a:ext cx="1005840" cy="777240"/>
          </a:xfrm>
          <a:prstGeom prst="rect">
            <a:avLst/>
          </a:prstGeom>
          <a:noFill/>
          <a:ln/>
        </p:spPr>
        <p:txBody>
          <a:bodyPr wrap="square" lIns="0" tIns="0" rIns="0" bIns="0" rtlCol="0" anchor="ctr"/>
          <a:lstStyle/>
          <a:p>
            <a:pPr algn="ctr" indent="0" marL="0">
              <a:buNone/>
            </a:pPr>
            <a:r>
              <a:rPr lang="en-US" sz="1800" b="1" dirty="0">
                <a:solidFill>
                  <a:srgbClr val="E8A838"/>
                </a:solidFill>
                <a:latin typeface="Georgia" pitchFamily="34" charset="0"/>
                <a:ea typeface="Georgia" pitchFamily="34" charset="-122"/>
                <a:cs typeface="Georgia" pitchFamily="34" charset="-120"/>
              </a:rPr>
              <a:t>1998</a:t>
            </a:r>
            <a:endParaRPr lang="en-US" sz="1800" dirty="0"/>
          </a:p>
        </p:txBody>
      </p:sp>
      <p:sp>
        <p:nvSpPr>
          <p:cNvPr id="7" name="Shape 4"/>
          <p:cNvSpPr/>
          <p:nvPr/>
        </p:nvSpPr>
        <p:spPr>
          <a:xfrm>
            <a:off x="1737360" y="1097280"/>
            <a:ext cx="6858000" cy="777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Text 5"/>
          <p:cNvSpPr/>
          <p:nvPr/>
        </p:nvSpPr>
        <p:spPr>
          <a:xfrm>
            <a:off x="1965960" y="1143000"/>
            <a:ext cx="6400800" cy="685800"/>
          </a:xfrm>
          <a:prstGeom prst="rect">
            <a:avLst/>
          </a:prstGeom>
          <a:noFill/>
          <a:ln/>
        </p:spPr>
        <p:txBody>
          <a:bodyPr wrap="square" lIns="0" tIns="0" rIns="0" bIns="0" rtlCol="0" anchor="ctr"/>
          <a:lstStyle/>
          <a:p>
            <a:pPr indent="0" marL="0">
              <a:buNone/>
            </a:pPr>
            <a:r>
              <a:rPr lang="en-US" sz="1400" b="1" dirty="0">
                <a:solidFill>
                  <a:srgbClr val="1A1F3D"/>
                </a:solidFill>
                <a:latin typeface="Calibri" pitchFamily="34" charset="0"/>
                <a:ea typeface="Calibri" pitchFamily="34" charset="-122"/>
                <a:cs typeface="Calibri" pitchFamily="34" charset="-120"/>
              </a:rPr>
              <a:t>Deep Space 1 Launches</a:t>
            </a:r>
            <a:endParaRPr lang="en-US" sz="1400" dirty="0"/>
          </a:p>
          <a:p>
            <a:pPr indent="0" marL="0">
              <a:buNone/>
            </a:pPr>
            <a:r>
              <a:rPr lang="en-US" sz="1100" dirty="0">
                <a:solidFill>
                  <a:srgbClr val="2C3050"/>
                </a:solidFill>
                <a:latin typeface="Calibri" pitchFamily="34" charset="0"/>
                <a:ea typeface="Calibri" pitchFamily="34" charset="-122"/>
                <a:cs typeface="Calibri" pitchFamily="34" charset="-120"/>
              </a:rPr>
              <a:t>Norvig's division at NASA Ames develops the Remote Agent, the first AI system to autonomously command a spacecraft.</a:t>
            </a:r>
            <a:endParaRPr lang="en-US" sz="1400" dirty="0"/>
          </a:p>
        </p:txBody>
      </p:sp>
      <p:sp>
        <p:nvSpPr>
          <p:cNvPr id="9" name="Shape 6"/>
          <p:cNvSpPr/>
          <p:nvPr/>
        </p:nvSpPr>
        <p:spPr>
          <a:xfrm>
            <a:off x="548640" y="2103120"/>
            <a:ext cx="1005840" cy="777240"/>
          </a:xfrm>
          <a:prstGeom prst="rect">
            <a:avLst/>
          </a:prstGeom>
          <a:solidFill>
            <a:srgbClr val="1A1F3D"/>
          </a:solidFill>
          <a:ln/>
        </p:spPr>
      </p:sp>
      <p:sp>
        <p:nvSpPr>
          <p:cNvPr id="10" name="Text 7"/>
          <p:cNvSpPr/>
          <p:nvPr/>
        </p:nvSpPr>
        <p:spPr>
          <a:xfrm>
            <a:off x="548640" y="2103120"/>
            <a:ext cx="1005840" cy="777240"/>
          </a:xfrm>
          <a:prstGeom prst="rect">
            <a:avLst/>
          </a:prstGeom>
          <a:noFill/>
          <a:ln/>
        </p:spPr>
        <p:txBody>
          <a:bodyPr wrap="square" lIns="0" tIns="0" rIns="0" bIns="0" rtlCol="0" anchor="ctr"/>
          <a:lstStyle/>
          <a:p>
            <a:pPr algn="ctr" indent="0" marL="0">
              <a:buNone/>
            </a:pPr>
            <a:r>
              <a:rPr lang="en-US" sz="1800" b="1" dirty="0">
                <a:solidFill>
                  <a:srgbClr val="E8A838"/>
                </a:solidFill>
                <a:latin typeface="Georgia" pitchFamily="34" charset="0"/>
                <a:ea typeface="Georgia" pitchFamily="34" charset="-122"/>
                <a:cs typeface="Georgia" pitchFamily="34" charset="-120"/>
              </a:rPr>
              <a:t>1999</a:t>
            </a:r>
            <a:endParaRPr lang="en-US" sz="1800" dirty="0"/>
          </a:p>
        </p:txBody>
      </p:sp>
      <p:sp>
        <p:nvSpPr>
          <p:cNvPr id="11" name="Shape 8"/>
          <p:cNvSpPr/>
          <p:nvPr/>
        </p:nvSpPr>
        <p:spPr>
          <a:xfrm>
            <a:off x="1737360" y="2103120"/>
            <a:ext cx="6858000" cy="777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Text 9"/>
          <p:cNvSpPr/>
          <p:nvPr/>
        </p:nvSpPr>
        <p:spPr>
          <a:xfrm>
            <a:off x="1965960" y="2148840"/>
            <a:ext cx="6400800" cy="685800"/>
          </a:xfrm>
          <a:prstGeom prst="rect">
            <a:avLst/>
          </a:prstGeom>
          <a:noFill/>
          <a:ln/>
        </p:spPr>
        <p:txBody>
          <a:bodyPr wrap="square" lIns="0" tIns="0" rIns="0" bIns="0" rtlCol="0" anchor="ctr"/>
          <a:lstStyle/>
          <a:p>
            <a:pPr indent="0" marL="0">
              <a:buNone/>
            </a:pPr>
            <a:r>
              <a:rPr lang="en-US" sz="1400" b="1" dirty="0">
                <a:solidFill>
                  <a:srgbClr val="1A1F3D"/>
                </a:solidFill>
                <a:latin typeface="Calibri" pitchFamily="34" charset="0"/>
                <a:ea typeface="Calibri" pitchFamily="34" charset="-122"/>
                <a:cs typeface="Calibri" pitchFamily="34" charset="-120"/>
              </a:rPr>
              <a:t>Autonomous Diagnosis in Space</a:t>
            </a:r>
            <a:endParaRPr lang="en-US" sz="1400" dirty="0"/>
          </a:p>
          <a:p>
            <a:pPr indent="0" marL="0">
              <a:buNone/>
            </a:pPr>
            <a:r>
              <a:rPr lang="en-US" sz="1100" dirty="0">
                <a:solidFill>
                  <a:srgbClr val="2C3050"/>
                </a:solidFill>
                <a:latin typeface="Calibri" pitchFamily="34" charset="0"/>
                <a:ea typeface="Calibri" pitchFamily="34" charset="-122"/>
                <a:cs typeface="Calibri" pitchFamily="34" charset="-120"/>
              </a:rPr>
              <a:t>Remote Agent detects a simulated camera malfunction and independently creates a revised power plan without human input.</a:t>
            </a:r>
            <a:endParaRPr lang="en-US" sz="1400" dirty="0"/>
          </a:p>
        </p:txBody>
      </p:sp>
      <p:sp>
        <p:nvSpPr>
          <p:cNvPr id="13" name="Shape 10"/>
          <p:cNvSpPr/>
          <p:nvPr/>
        </p:nvSpPr>
        <p:spPr>
          <a:xfrm>
            <a:off x="548640" y="3108960"/>
            <a:ext cx="1005840" cy="777240"/>
          </a:xfrm>
          <a:prstGeom prst="rect">
            <a:avLst/>
          </a:prstGeom>
          <a:solidFill>
            <a:srgbClr val="1A1F3D"/>
          </a:solidFill>
          <a:ln/>
        </p:spPr>
      </p:sp>
      <p:sp>
        <p:nvSpPr>
          <p:cNvPr id="14" name="Text 11"/>
          <p:cNvSpPr/>
          <p:nvPr/>
        </p:nvSpPr>
        <p:spPr>
          <a:xfrm>
            <a:off x="548640" y="3108960"/>
            <a:ext cx="1005840" cy="777240"/>
          </a:xfrm>
          <a:prstGeom prst="rect">
            <a:avLst/>
          </a:prstGeom>
          <a:noFill/>
          <a:ln/>
        </p:spPr>
        <p:txBody>
          <a:bodyPr wrap="square" lIns="0" tIns="0" rIns="0" bIns="0" rtlCol="0" anchor="ctr"/>
          <a:lstStyle/>
          <a:p>
            <a:pPr algn="ctr" indent="0" marL="0">
              <a:buNone/>
            </a:pPr>
            <a:r>
              <a:rPr lang="en-US" sz="1800" b="1" dirty="0">
                <a:solidFill>
                  <a:srgbClr val="E8A838"/>
                </a:solidFill>
                <a:latin typeface="Georgia" pitchFamily="34" charset="0"/>
                <a:ea typeface="Georgia" pitchFamily="34" charset="-122"/>
                <a:cs typeface="Georgia" pitchFamily="34" charset="-120"/>
              </a:rPr>
              <a:t>1999</a:t>
            </a:r>
            <a:endParaRPr lang="en-US" sz="1800" dirty="0"/>
          </a:p>
        </p:txBody>
      </p:sp>
      <p:sp>
        <p:nvSpPr>
          <p:cNvPr id="15" name="Shape 12"/>
          <p:cNvSpPr/>
          <p:nvPr/>
        </p:nvSpPr>
        <p:spPr>
          <a:xfrm>
            <a:off x="1737360" y="3108960"/>
            <a:ext cx="6858000" cy="777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Text 13"/>
          <p:cNvSpPr/>
          <p:nvPr/>
        </p:nvSpPr>
        <p:spPr>
          <a:xfrm>
            <a:off x="1965960" y="3154680"/>
            <a:ext cx="6400800" cy="685800"/>
          </a:xfrm>
          <a:prstGeom prst="rect">
            <a:avLst/>
          </a:prstGeom>
          <a:noFill/>
          <a:ln/>
        </p:spPr>
        <p:txBody>
          <a:bodyPr wrap="square" lIns="0" tIns="0" rIns="0" bIns="0" rtlCol="0" anchor="ctr"/>
          <a:lstStyle/>
          <a:p>
            <a:pPr indent="0" marL="0">
              <a:buNone/>
            </a:pPr>
            <a:r>
              <a:rPr lang="en-US" sz="1400" b="1" dirty="0">
                <a:solidFill>
                  <a:srgbClr val="1A1F3D"/>
                </a:solidFill>
                <a:latin typeface="Calibri" pitchFamily="34" charset="0"/>
                <a:ea typeface="Calibri" pitchFamily="34" charset="-122"/>
                <a:cs typeface="Calibri" pitchFamily="34" charset="-120"/>
              </a:rPr>
              <a:t>NASA Software of the Year</a:t>
            </a:r>
            <a:endParaRPr lang="en-US" sz="1400" dirty="0"/>
          </a:p>
          <a:p>
            <a:pPr indent="0" marL="0">
              <a:buNone/>
            </a:pPr>
            <a:r>
              <a:rPr lang="en-US" sz="1100" dirty="0">
                <a:solidFill>
                  <a:srgbClr val="2C3050"/>
                </a:solidFill>
                <a:latin typeface="Calibri" pitchFamily="34" charset="0"/>
                <a:ea typeface="Calibri" pitchFamily="34" charset="-122"/>
                <a:cs typeface="Calibri" pitchFamily="34" charset="-120"/>
              </a:rPr>
              <a:t>Recognized as one of the top achievements in AI history, cited in two AAAI Presidential addresses by Nilsson and Brachman.</a:t>
            </a:r>
            <a:endParaRPr lang="en-US" sz="1400" dirty="0"/>
          </a:p>
        </p:txBody>
      </p:sp>
      <p:sp>
        <p:nvSpPr>
          <p:cNvPr id="17" name="Shape 14"/>
          <p:cNvSpPr/>
          <p:nvPr/>
        </p:nvSpPr>
        <p:spPr>
          <a:xfrm>
            <a:off x="548640" y="4114800"/>
            <a:ext cx="1005840" cy="777240"/>
          </a:xfrm>
          <a:prstGeom prst="rect">
            <a:avLst/>
          </a:prstGeom>
          <a:solidFill>
            <a:srgbClr val="1A1F3D"/>
          </a:solidFill>
          <a:ln/>
        </p:spPr>
      </p:sp>
      <p:sp>
        <p:nvSpPr>
          <p:cNvPr id="18" name="Text 15"/>
          <p:cNvSpPr/>
          <p:nvPr/>
        </p:nvSpPr>
        <p:spPr>
          <a:xfrm>
            <a:off x="548640" y="4114800"/>
            <a:ext cx="1005840" cy="777240"/>
          </a:xfrm>
          <a:prstGeom prst="rect">
            <a:avLst/>
          </a:prstGeom>
          <a:noFill/>
          <a:ln/>
        </p:spPr>
        <p:txBody>
          <a:bodyPr wrap="square" lIns="0" tIns="0" rIns="0" bIns="0" rtlCol="0" anchor="ctr"/>
          <a:lstStyle/>
          <a:p>
            <a:pPr algn="ctr" indent="0" marL="0">
              <a:buNone/>
            </a:pPr>
            <a:r>
              <a:rPr lang="en-US" sz="1800" b="1" dirty="0">
                <a:solidFill>
                  <a:srgbClr val="E8A838"/>
                </a:solidFill>
                <a:latin typeface="Georgia" pitchFamily="34" charset="0"/>
                <a:ea typeface="Georgia" pitchFamily="34" charset="-122"/>
                <a:cs typeface="Georgia" pitchFamily="34" charset="-120"/>
              </a:rPr>
              <a:t>2004</a:t>
            </a:r>
            <a:endParaRPr lang="en-US" sz="1800" dirty="0"/>
          </a:p>
        </p:txBody>
      </p:sp>
      <p:sp>
        <p:nvSpPr>
          <p:cNvPr id="19" name="Shape 16"/>
          <p:cNvSpPr/>
          <p:nvPr/>
        </p:nvSpPr>
        <p:spPr>
          <a:xfrm>
            <a:off x="1737360" y="4114800"/>
            <a:ext cx="6858000" cy="7772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0" name="Text 17"/>
          <p:cNvSpPr/>
          <p:nvPr/>
        </p:nvSpPr>
        <p:spPr>
          <a:xfrm>
            <a:off x="1965960" y="4160520"/>
            <a:ext cx="6400800" cy="685800"/>
          </a:xfrm>
          <a:prstGeom prst="rect">
            <a:avLst/>
          </a:prstGeom>
          <a:noFill/>
          <a:ln/>
        </p:spPr>
        <p:txBody>
          <a:bodyPr wrap="square" lIns="0" tIns="0" rIns="0" bIns="0" rtlCol="0" anchor="ctr"/>
          <a:lstStyle/>
          <a:p>
            <a:pPr indent="0" marL="0">
              <a:buNone/>
            </a:pPr>
            <a:r>
              <a:rPr lang="en-US" sz="1400" b="1" dirty="0">
                <a:solidFill>
                  <a:srgbClr val="1A1F3D"/>
                </a:solidFill>
                <a:latin typeface="Calibri" pitchFamily="34" charset="0"/>
                <a:ea typeface="Calibri" pitchFamily="34" charset="-122"/>
                <a:cs typeface="Calibri" pitchFamily="34" charset="-120"/>
              </a:rPr>
              <a:t>Mars Exploration Rovers</a:t>
            </a:r>
            <a:endParaRPr lang="en-US" sz="1400" dirty="0"/>
          </a:p>
          <a:p>
            <a:pPr indent="0" marL="0">
              <a:buNone/>
            </a:pPr>
            <a:r>
              <a:rPr lang="en-US" sz="1100" dirty="0">
                <a:solidFill>
                  <a:srgbClr val="2C3050"/>
                </a:solidFill>
                <a:latin typeface="Calibri" pitchFamily="34" charset="0"/>
                <a:ea typeface="Calibri" pitchFamily="34" charset="-122"/>
                <a:cs typeface="Calibri" pitchFamily="34" charset="-120"/>
              </a:rPr>
              <a:t>Planning software derived from Remote Agent contributes to the Mars rovers, extending Norvig's impact beyond Earth orbit.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A838"/>
          </a:solidFill>
          <a:ln/>
        </p:spPr>
      </p:sp>
      <p:pic>
        <p:nvPicPr>
          <p:cNvPr id="3" name="Image 0" descr="preencoded.png">    </p:cNvPr>
          <p:cNvPicPr>
            <a:picLocks noChangeAspect="1"/>
          </p:cNvPicPr>
          <p:nvPr/>
        </p:nvPicPr>
        <p:blipFill>
          <a:blip r:embed="rId1"/>
          <a:stretch>
            <a:fillRect/>
          </a:stretch>
        </p:blipFill>
        <p:spPr>
          <a:xfrm>
            <a:off x="548640" y="274320"/>
            <a:ext cx="411480" cy="411480"/>
          </a:xfrm>
          <a:prstGeom prst="rect">
            <a:avLst/>
          </a:prstGeom>
        </p:spPr>
      </p:pic>
      <p:sp>
        <p:nvSpPr>
          <p:cNvPr id="4" name="Text 1"/>
          <p:cNvSpPr/>
          <p:nvPr/>
        </p:nvSpPr>
        <p:spPr>
          <a:xfrm>
            <a:off x="1097280" y="274320"/>
            <a:ext cx="7498080" cy="548640"/>
          </a:xfrm>
          <a:prstGeom prst="rect">
            <a:avLst/>
          </a:prstGeom>
          <a:noFill/>
          <a:ln/>
        </p:spPr>
        <p:txBody>
          <a:bodyPr wrap="square" lIns="0" tIns="0" rIns="0" bIns="0" rtlCol="0" anchor="ctr"/>
          <a:lstStyle/>
          <a:p>
            <a:pPr indent="0" marL="0">
              <a:buNone/>
            </a:pPr>
            <a:r>
              <a:rPr lang="en-US" sz="3000" b="1" dirty="0">
                <a:solidFill>
                  <a:srgbClr val="1A1F3D"/>
                </a:solidFill>
                <a:latin typeface="Georgia" pitchFamily="34" charset="0"/>
                <a:ea typeface="Georgia" pitchFamily="34" charset="-122"/>
                <a:cs typeface="Georgia" pitchFamily="34" charset="-120"/>
              </a:rPr>
              <a:t>Google &amp; The Power of Data</a:t>
            </a:r>
            <a:endParaRPr lang="en-US" sz="3000" dirty="0"/>
          </a:p>
        </p:txBody>
      </p:sp>
      <p:sp>
        <p:nvSpPr>
          <p:cNvPr id="5" name="Shape 2"/>
          <p:cNvSpPr/>
          <p:nvPr/>
        </p:nvSpPr>
        <p:spPr>
          <a:xfrm>
            <a:off x="548640" y="1097280"/>
            <a:ext cx="3931920" cy="23774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 name="Shape 3"/>
          <p:cNvSpPr/>
          <p:nvPr/>
        </p:nvSpPr>
        <p:spPr>
          <a:xfrm>
            <a:off x="548640" y="1097280"/>
            <a:ext cx="64008" cy="2377440"/>
          </a:xfrm>
          <a:prstGeom prst="rect">
            <a:avLst/>
          </a:prstGeom>
          <a:solidFill>
            <a:srgbClr val="E8A838"/>
          </a:solidFill>
          <a:ln/>
        </p:spPr>
      </p:sp>
      <p:sp>
        <p:nvSpPr>
          <p:cNvPr id="7" name="Text 4"/>
          <p:cNvSpPr/>
          <p:nvPr/>
        </p:nvSpPr>
        <p:spPr>
          <a:xfrm>
            <a:off x="914400" y="1234440"/>
            <a:ext cx="3383280" cy="2148840"/>
          </a:xfrm>
          <a:prstGeom prst="rect">
            <a:avLst/>
          </a:prstGeom>
          <a:noFill/>
          <a:ln/>
        </p:spPr>
        <p:txBody>
          <a:bodyPr wrap="square" lIns="0" tIns="0" rIns="0" bIns="0" rtlCol="0" anchor="t"/>
          <a:lstStyle/>
          <a:p>
            <a:pPr indent="0" marL="0">
              <a:buNone/>
            </a:pPr>
            <a:r>
              <a:rPr lang="en-US" sz="1500" b="1" dirty="0">
                <a:solidFill>
                  <a:srgbClr val="1A1F3D"/>
                </a:solidFill>
                <a:latin typeface="Calibri" pitchFamily="34" charset="0"/>
                <a:ea typeface="Calibri" pitchFamily="34" charset="-122"/>
                <a:cs typeface="Calibri" pitchFamily="34" charset="-120"/>
              </a:rPr>
              <a:t>20 Years at Google (2001–2021)</a:t>
            </a:r>
            <a:endParaRPr lang="en-US" sz="1500" dirty="0"/>
          </a:p>
          <a:p>
            <a:pPr indent="0" marL="0">
              <a:buNone/>
            </a:pPr>
            <a:endParaRPr lang="en-US" sz="1500" dirty="0"/>
          </a:p>
          <a:p>
            <a:pPr indent="0" marL="0">
              <a:buNone/>
            </a:pPr>
            <a:r>
              <a:rPr lang="en-US" sz="1200" dirty="0">
                <a:solidFill>
                  <a:srgbClr val="2C3050"/>
                </a:solidFill>
                <a:latin typeface="Calibri" pitchFamily="34" charset="0"/>
                <a:ea typeface="Calibri" pitchFamily="34" charset="-122"/>
                <a:cs typeface="Calibri" pitchFamily="34" charset="-120"/>
              </a:rPr>
              <a:t>Director of Search Quality, then Director of Research. Led teams advancing:</a:t>
            </a:r>
            <a:endParaRPr lang="en-US" sz="1500" dirty="0"/>
          </a:p>
          <a:p>
            <a:pPr indent="0" marL="0">
              <a:buNone/>
            </a:pPr>
            <a:endParaRPr lang="en-US" sz="1500" dirty="0"/>
          </a:p>
          <a:p>
            <a:pPr marL="342900" indent="-342900">
              <a:buSzPct val="100000"/>
              <a:buChar char="•"/>
            </a:pPr>
            <a:r>
              <a:rPr lang="en-US" sz="1200" dirty="0">
                <a:solidFill>
                  <a:srgbClr val="2C3050"/>
                </a:solidFill>
                <a:latin typeface="Calibri" pitchFamily="34" charset="0"/>
                <a:ea typeface="Calibri" pitchFamily="34" charset="-122"/>
                <a:cs typeface="Calibri" pitchFamily="34" charset="-120"/>
              </a:rPr>
              <a:t>Machine Translation</a:t>
            </a:r>
            <a:endParaRPr lang="en-US" sz="1500" dirty="0"/>
          </a:p>
          <a:p>
            <a:pPr marL="342900" indent="-342900">
              <a:buSzPct val="100000"/>
              <a:buChar char="•"/>
            </a:pPr>
            <a:r>
              <a:rPr lang="en-US" sz="1200" dirty="0">
                <a:solidFill>
                  <a:srgbClr val="2C3050"/>
                </a:solidFill>
                <a:latin typeface="Calibri" pitchFamily="34" charset="0"/>
                <a:ea typeface="Calibri" pitchFamily="34" charset="-122"/>
                <a:cs typeface="Calibri" pitchFamily="34" charset="-120"/>
              </a:rPr>
              <a:t>Computer Vision</a:t>
            </a:r>
            <a:endParaRPr lang="en-US" sz="1500" dirty="0"/>
          </a:p>
          <a:p>
            <a:pPr marL="342900" indent="-342900">
              <a:buSzPct val="100000"/>
              <a:buChar char="•"/>
            </a:pPr>
            <a:r>
              <a:rPr lang="en-US" sz="1200" dirty="0">
                <a:solidFill>
                  <a:srgbClr val="2C3050"/>
                </a:solidFill>
                <a:latin typeface="Calibri" pitchFamily="34" charset="0"/>
                <a:ea typeface="Calibri" pitchFamily="34" charset="-122"/>
                <a:cs typeface="Calibri" pitchFamily="34" charset="-120"/>
              </a:rPr>
              <a:t>Speech Recognition</a:t>
            </a:r>
            <a:endParaRPr lang="en-US" sz="1500" dirty="0"/>
          </a:p>
          <a:p>
            <a:pPr marL="342900" indent="-342900">
              <a:buSzPct val="100000"/>
              <a:buChar char="•"/>
            </a:pPr>
            <a:r>
              <a:rPr lang="en-US" sz="1200" dirty="0">
                <a:solidFill>
                  <a:srgbClr val="2C3050"/>
                </a:solidFill>
                <a:latin typeface="Calibri" pitchFamily="34" charset="0"/>
                <a:ea typeface="Calibri" pitchFamily="34" charset="-122"/>
                <a:cs typeface="Calibri" pitchFamily="34" charset="-120"/>
              </a:rPr>
              <a:t>Core Search Algorithms</a:t>
            </a:r>
            <a:endParaRPr lang="en-US" sz="1500" dirty="0"/>
          </a:p>
        </p:txBody>
      </p:sp>
      <p:sp>
        <p:nvSpPr>
          <p:cNvPr id="8" name="Shape 5"/>
          <p:cNvSpPr/>
          <p:nvPr/>
        </p:nvSpPr>
        <p:spPr>
          <a:xfrm>
            <a:off x="4846320" y="1097280"/>
            <a:ext cx="3749040" cy="2377440"/>
          </a:xfrm>
          <a:prstGeom prst="rect">
            <a:avLst/>
          </a:prstGeom>
          <a:solidFill>
            <a:srgbClr val="252B54"/>
          </a:solidFill>
          <a:ln/>
          <a:effectLst>
            <a:outerShdw sx="100000" sy="100000" kx="0" ky="0" algn="bl" rotWithShape="0" blurRad="101600" dist="38100" dir="8100000">
              <a:srgbClr val="000000">
                <a:alpha val="12000"/>
              </a:srgbClr>
            </a:outerShdw>
          </a:effectLst>
        </p:spPr>
      </p:sp>
      <p:pic>
        <p:nvPicPr>
          <p:cNvPr id="9" name="Image 1" descr="preencoded.png">    </p:cNvPr>
          <p:cNvPicPr>
            <a:picLocks noChangeAspect="1"/>
          </p:cNvPicPr>
          <p:nvPr/>
        </p:nvPicPr>
        <p:blipFill>
          <a:blip r:embed="rId2"/>
          <a:stretch>
            <a:fillRect/>
          </a:stretch>
        </p:blipFill>
        <p:spPr>
          <a:xfrm>
            <a:off x="5120640" y="1280160"/>
            <a:ext cx="320040" cy="320040"/>
          </a:xfrm>
          <a:prstGeom prst="rect">
            <a:avLst/>
          </a:prstGeom>
        </p:spPr>
      </p:pic>
      <p:sp>
        <p:nvSpPr>
          <p:cNvPr id="10" name="Text 6"/>
          <p:cNvSpPr/>
          <p:nvPr/>
        </p:nvSpPr>
        <p:spPr>
          <a:xfrm>
            <a:off x="5029200" y="1645920"/>
            <a:ext cx="3383280" cy="640080"/>
          </a:xfrm>
          <a:prstGeom prst="rect">
            <a:avLst/>
          </a:prstGeom>
          <a:noFill/>
          <a:ln/>
        </p:spPr>
        <p:txBody>
          <a:bodyPr wrap="square" lIns="0" tIns="0" rIns="0" bIns="0" rtlCol="0" anchor="ctr"/>
          <a:lstStyle/>
          <a:p>
            <a:pPr indent="0" marL="0">
              <a:buNone/>
            </a:pPr>
            <a:r>
              <a:rPr lang="en-US" sz="1600" b="1" i="1" dirty="0">
                <a:solidFill>
                  <a:srgbClr val="E8A838"/>
                </a:solidFill>
                <a:latin typeface="Georgia" pitchFamily="34" charset="0"/>
                <a:ea typeface="Georgia" pitchFamily="34" charset="-122"/>
                <a:cs typeface="Georgia" pitchFamily="34" charset="-120"/>
              </a:rPr>
              <a:t>The Unreasonable</a:t>
            </a:r>
            <a:endParaRPr lang="en-US" sz="1600" dirty="0"/>
          </a:p>
          <a:p>
            <a:pPr indent="0" marL="0">
              <a:buNone/>
            </a:pPr>
            <a:r>
              <a:rPr lang="en-US" sz="1600" b="1" i="1" dirty="0">
                <a:solidFill>
                  <a:srgbClr val="E8A838"/>
                </a:solidFill>
                <a:latin typeface="Georgia" pitchFamily="34" charset="0"/>
                <a:ea typeface="Georgia" pitchFamily="34" charset="-122"/>
                <a:cs typeface="Georgia" pitchFamily="34" charset="-120"/>
              </a:rPr>
              <a:t>Effectiveness of Data</a:t>
            </a:r>
            <a:endParaRPr lang="en-US" sz="1600" dirty="0"/>
          </a:p>
        </p:txBody>
      </p:sp>
      <p:sp>
        <p:nvSpPr>
          <p:cNvPr id="11" name="Text 7"/>
          <p:cNvSpPr/>
          <p:nvPr/>
        </p:nvSpPr>
        <p:spPr>
          <a:xfrm>
            <a:off x="5029200" y="2286000"/>
            <a:ext cx="3383280" cy="274320"/>
          </a:xfrm>
          <a:prstGeom prst="rect">
            <a:avLst/>
          </a:prstGeom>
          <a:noFill/>
          <a:ln/>
        </p:spPr>
        <p:txBody>
          <a:bodyPr wrap="square" lIns="0" tIns="0" rIns="0" bIns="0" rtlCol="0" anchor="ctr"/>
          <a:lstStyle/>
          <a:p>
            <a:pPr indent="0" marL="0">
              <a:buNone/>
            </a:pPr>
            <a:r>
              <a:rPr lang="en-US" sz="1000" dirty="0">
                <a:solidFill>
                  <a:srgbClr val="8B92B8"/>
                </a:solidFill>
                <a:latin typeface="Calibri" pitchFamily="34" charset="0"/>
                <a:ea typeface="Calibri" pitchFamily="34" charset="-122"/>
                <a:cs typeface="Calibri" pitchFamily="34" charset="-120"/>
              </a:rPr>
              <a:t>IEEE Intelligent Systems, 2009</a:t>
            </a:r>
            <a:endParaRPr lang="en-US" sz="1000" dirty="0"/>
          </a:p>
        </p:txBody>
      </p:sp>
      <p:sp>
        <p:nvSpPr>
          <p:cNvPr id="12" name="Text 8"/>
          <p:cNvSpPr/>
          <p:nvPr/>
        </p:nvSpPr>
        <p:spPr>
          <a:xfrm>
            <a:off x="5029200" y="2606040"/>
            <a:ext cx="3383280" cy="7315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1,600+ citations. Argued that massive data, even noisy, outperforms elegant theories for complex human problems like language.</a:t>
            </a:r>
            <a:endParaRPr lang="en-US" sz="1100" dirty="0"/>
          </a:p>
        </p:txBody>
      </p:sp>
      <p:sp>
        <p:nvSpPr>
          <p:cNvPr id="13" name="Shape 9"/>
          <p:cNvSpPr/>
          <p:nvPr/>
        </p:nvSpPr>
        <p:spPr>
          <a:xfrm>
            <a:off x="548640" y="3749040"/>
            <a:ext cx="8046720" cy="10058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0"/>
          <p:cNvSpPr/>
          <p:nvPr/>
        </p:nvSpPr>
        <p:spPr>
          <a:xfrm>
            <a:off x="548640" y="3749040"/>
            <a:ext cx="64008" cy="1005840"/>
          </a:xfrm>
          <a:prstGeom prst="rect">
            <a:avLst/>
          </a:prstGeom>
          <a:solidFill>
            <a:srgbClr val="E8A838"/>
          </a:solidFill>
          <a:ln/>
        </p:spPr>
      </p:sp>
      <p:sp>
        <p:nvSpPr>
          <p:cNvPr id="15" name="Text 11"/>
          <p:cNvSpPr/>
          <p:nvPr/>
        </p:nvSpPr>
        <p:spPr>
          <a:xfrm>
            <a:off x="914400" y="3840480"/>
            <a:ext cx="7406640" cy="822960"/>
          </a:xfrm>
          <a:prstGeom prst="rect">
            <a:avLst/>
          </a:prstGeom>
          <a:noFill/>
          <a:ln/>
        </p:spPr>
        <p:txBody>
          <a:bodyPr wrap="square" lIns="0" tIns="0" rIns="0" bIns="0" rtlCol="0" anchor="ctr"/>
          <a:lstStyle/>
          <a:p>
            <a:pPr indent="0" marL="0">
              <a:buNone/>
            </a:pPr>
            <a:r>
              <a:rPr lang="en-US" sz="1300" b="1" dirty="0">
                <a:solidFill>
                  <a:srgbClr val="E8A838"/>
                </a:solidFill>
                <a:latin typeface="Calibri" pitchFamily="34" charset="0"/>
                <a:ea typeface="Calibri" pitchFamily="34" charset="-122"/>
                <a:cs typeface="Calibri" pitchFamily="34" charset="-120"/>
              </a:rPr>
              <a:t>Key Insight: </a:t>
            </a:r>
            <a:pPr indent="0" marL="0">
              <a:buNone/>
            </a:pPr>
            <a:r>
              <a:rPr lang="en-US" sz="1200" dirty="0">
                <a:solidFill>
                  <a:srgbClr val="2C3050"/>
                </a:solidFill>
                <a:latin typeface="Calibri" pitchFamily="34" charset="0"/>
                <a:ea typeface="Calibri" pitchFamily="34" charset="-122"/>
                <a:cs typeface="Calibri" pitchFamily="34" charset="-120"/>
              </a:rPr>
              <a:t>This paper presaged the entire era of deep learning and large language models. Simple models + vast data beat complex models with limited data. This idea now underpins modern AI.</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A838"/>
          </a:solidFill>
          <a:ln/>
        </p:spPr>
      </p:sp>
      <p:pic>
        <p:nvPicPr>
          <p:cNvPr id="3" name="Image 0" descr="preencoded.png">    </p:cNvPr>
          <p:cNvPicPr>
            <a:picLocks noChangeAspect="1"/>
          </p:cNvPicPr>
          <p:nvPr/>
        </p:nvPicPr>
        <p:blipFill>
          <a:blip r:embed="rId1"/>
          <a:stretch>
            <a:fillRect/>
          </a:stretch>
        </p:blipFill>
        <p:spPr>
          <a:xfrm>
            <a:off x="548640" y="274320"/>
            <a:ext cx="411480" cy="411480"/>
          </a:xfrm>
          <a:prstGeom prst="rect">
            <a:avLst/>
          </a:prstGeom>
        </p:spPr>
      </p:pic>
      <p:sp>
        <p:nvSpPr>
          <p:cNvPr id="4" name="Text 1"/>
          <p:cNvSpPr/>
          <p:nvPr/>
        </p:nvSpPr>
        <p:spPr>
          <a:xfrm>
            <a:off x="1097280" y="274320"/>
            <a:ext cx="7498080" cy="548640"/>
          </a:xfrm>
          <a:prstGeom prst="rect">
            <a:avLst/>
          </a:prstGeom>
          <a:noFill/>
          <a:ln/>
        </p:spPr>
        <p:txBody>
          <a:bodyPr wrap="square" lIns="0" tIns="0" rIns="0" bIns="0" rtlCol="0" anchor="ctr"/>
          <a:lstStyle/>
          <a:p>
            <a:pPr indent="0" marL="0">
              <a:buNone/>
            </a:pPr>
            <a:r>
              <a:rPr lang="en-US" sz="3000" b="1" dirty="0">
                <a:solidFill>
                  <a:srgbClr val="1A1F3D"/>
                </a:solidFill>
                <a:latin typeface="Georgia" pitchFamily="34" charset="0"/>
                <a:ea typeface="Georgia" pitchFamily="34" charset="-122"/>
                <a:cs typeface="Georgia" pitchFamily="34" charset="-120"/>
              </a:rPr>
              <a:t>Democratizing AI Education</a:t>
            </a:r>
            <a:endParaRPr lang="en-US" sz="3000" dirty="0"/>
          </a:p>
        </p:txBody>
      </p:sp>
      <p:sp>
        <p:nvSpPr>
          <p:cNvPr id="5" name="Shape 2"/>
          <p:cNvSpPr/>
          <p:nvPr/>
        </p:nvSpPr>
        <p:spPr>
          <a:xfrm>
            <a:off x="548640" y="1097280"/>
            <a:ext cx="3291840" cy="1828800"/>
          </a:xfrm>
          <a:prstGeom prst="rect">
            <a:avLst/>
          </a:prstGeom>
          <a:solidFill>
            <a:srgbClr val="1A1F3D"/>
          </a:solidFill>
          <a:ln/>
        </p:spPr>
      </p:sp>
      <p:sp>
        <p:nvSpPr>
          <p:cNvPr id="6" name="Text 3"/>
          <p:cNvSpPr/>
          <p:nvPr/>
        </p:nvSpPr>
        <p:spPr>
          <a:xfrm>
            <a:off x="548640" y="1188720"/>
            <a:ext cx="3291840" cy="914400"/>
          </a:xfrm>
          <a:prstGeom prst="rect">
            <a:avLst/>
          </a:prstGeom>
          <a:noFill/>
          <a:ln/>
        </p:spPr>
        <p:txBody>
          <a:bodyPr wrap="square" lIns="0" tIns="0" rIns="0" bIns="0" rtlCol="0" anchor="ctr"/>
          <a:lstStyle/>
          <a:p>
            <a:pPr algn="ctr" indent="0" marL="0">
              <a:buNone/>
            </a:pPr>
            <a:r>
              <a:rPr lang="en-US" sz="4400" b="1" dirty="0">
                <a:solidFill>
                  <a:srgbClr val="E8A838"/>
                </a:solidFill>
                <a:latin typeface="Georgia" pitchFamily="34" charset="0"/>
                <a:ea typeface="Georgia" pitchFamily="34" charset="-122"/>
                <a:cs typeface="Georgia" pitchFamily="34" charset="-120"/>
              </a:rPr>
              <a:t>160,000+</a:t>
            </a:r>
            <a:endParaRPr lang="en-US" sz="4400" dirty="0"/>
          </a:p>
        </p:txBody>
      </p:sp>
      <p:sp>
        <p:nvSpPr>
          <p:cNvPr id="7" name="Text 4"/>
          <p:cNvSpPr/>
          <p:nvPr/>
        </p:nvSpPr>
        <p:spPr>
          <a:xfrm>
            <a:off x="548640" y="2103120"/>
            <a:ext cx="3291840" cy="685800"/>
          </a:xfrm>
          <a:prstGeom prst="rect">
            <a:avLst/>
          </a:prstGeom>
          <a:noFill/>
          <a:ln/>
        </p:spPr>
        <p:txBody>
          <a:bodyPr wrap="square" lIns="0" tIns="0" rIns="0" bIns="0" rtlCol="0" anchor="t"/>
          <a:lstStyle/>
          <a:p>
            <a:pPr algn="ctr" indent="0" marL="0">
              <a:buNone/>
            </a:pPr>
            <a:r>
              <a:rPr lang="en-US" sz="1400" dirty="0">
                <a:solidFill>
                  <a:srgbClr val="CADCFC"/>
                </a:solidFill>
                <a:latin typeface="Calibri" pitchFamily="34" charset="0"/>
                <a:ea typeface="Calibri" pitchFamily="34" charset="-122"/>
                <a:cs typeface="Calibri" pitchFamily="34" charset="-120"/>
              </a:rPr>
              <a:t>Students Enrolled</a:t>
            </a:r>
            <a:endParaRPr lang="en-US" sz="1400" dirty="0"/>
          </a:p>
          <a:p>
            <a:pPr algn="ctr" indent="0" marL="0">
              <a:buNone/>
            </a:pPr>
            <a:r>
              <a:rPr lang="en-US" sz="1400" dirty="0">
                <a:solidFill>
                  <a:srgbClr val="CADCFC"/>
                </a:solidFill>
                <a:latin typeface="Calibri" pitchFamily="34" charset="0"/>
                <a:ea typeface="Calibri" pitchFamily="34" charset="-122"/>
                <a:cs typeface="Calibri" pitchFamily="34" charset="-120"/>
              </a:rPr>
              <a:t>190+ Countries</a:t>
            </a:r>
            <a:endParaRPr lang="en-US" sz="1400" dirty="0"/>
          </a:p>
        </p:txBody>
      </p:sp>
      <p:sp>
        <p:nvSpPr>
          <p:cNvPr id="8" name="Shape 5"/>
          <p:cNvSpPr/>
          <p:nvPr/>
        </p:nvSpPr>
        <p:spPr>
          <a:xfrm>
            <a:off x="4114800" y="1097280"/>
            <a:ext cx="4480560" cy="18288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Text 6"/>
          <p:cNvSpPr/>
          <p:nvPr/>
        </p:nvSpPr>
        <p:spPr>
          <a:xfrm>
            <a:off x="4389120" y="1234440"/>
            <a:ext cx="3977640" cy="1554480"/>
          </a:xfrm>
          <a:prstGeom prst="rect">
            <a:avLst/>
          </a:prstGeom>
          <a:noFill/>
          <a:ln/>
        </p:spPr>
        <p:txBody>
          <a:bodyPr wrap="square" lIns="0" tIns="0" rIns="0" bIns="0" rtlCol="0" anchor="t"/>
          <a:lstStyle/>
          <a:p>
            <a:pPr indent="0" marL="0">
              <a:buNone/>
            </a:pPr>
            <a:r>
              <a:rPr lang="en-US" sz="1500" b="1" dirty="0">
                <a:solidFill>
                  <a:srgbClr val="1A1F3D"/>
                </a:solidFill>
                <a:latin typeface="Calibri" pitchFamily="34" charset="0"/>
                <a:ea typeface="Calibri" pitchFamily="34" charset="-122"/>
                <a:cs typeface="Calibri" pitchFamily="34" charset="-120"/>
              </a:rPr>
              <a:t>Stanford AI Course (Fall 2011)</a:t>
            </a:r>
            <a:endParaRPr lang="en-US" sz="1500" dirty="0"/>
          </a:p>
          <a:p>
            <a:pPr indent="0" marL="0">
              <a:buNone/>
            </a:pPr>
            <a:endParaRPr lang="en-US" sz="1500" dirty="0"/>
          </a:p>
          <a:p>
            <a:pPr indent="0" marL="0">
              <a:buNone/>
            </a:pPr>
            <a:r>
              <a:rPr lang="en-US" sz="1200" dirty="0">
                <a:solidFill>
                  <a:srgbClr val="2C3050"/>
                </a:solidFill>
                <a:latin typeface="Calibri" pitchFamily="34" charset="0"/>
                <a:ea typeface="Calibri" pitchFamily="34" charset="-122"/>
                <a:cs typeface="Calibri" pitchFamily="34" charset="-120"/>
              </a:rPr>
              <a:t>Co-taught with Sebastian Thrun, this was among the first MOOCs ever offered. It used AI itself to grade exams and rank questions. Over 20,000 students completed the final.</a:t>
            </a:r>
            <a:endParaRPr lang="en-US" sz="1500" dirty="0"/>
          </a:p>
        </p:txBody>
      </p:sp>
      <p:sp>
        <p:nvSpPr>
          <p:cNvPr id="10" name="Shape 7"/>
          <p:cNvSpPr/>
          <p:nvPr/>
        </p:nvSpPr>
        <p:spPr>
          <a:xfrm>
            <a:off x="548640" y="3200400"/>
            <a:ext cx="2560320" cy="15544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Shape 8"/>
          <p:cNvSpPr/>
          <p:nvPr/>
        </p:nvSpPr>
        <p:spPr>
          <a:xfrm>
            <a:off x="548640" y="3200400"/>
            <a:ext cx="2560320" cy="45720"/>
          </a:xfrm>
          <a:prstGeom prst="rect">
            <a:avLst/>
          </a:prstGeom>
          <a:solidFill>
            <a:srgbClr val="E8A838"/>
          </a:solidFill>
          <a:ln/>
        </p:spPr>
      </p:sp>
      <p:sp>
        <p:nvSpPr>
          <p:cNvPr id="12" name="Text 9"/>
          <p:cNvSpPr/>
          <p:nvPr/>
        </p:nvSpPr>
        <p:spPr>
          <a:xfrm>
            <a:off x="731520" y="3383280"/>
            <a:ext cx="2194560" cy="411480"/>
          </a:xfrm>
          <a:prstGeom prst="rect">
            <a:avLst/>
          </a:prstGeom>
          <a:noFill/>
          <a:ln/>
        </p:spPr>
        <p:txBody>
          <a:bodyPr wrap="square" lIns="0" tIns="0" rIns="0" bIns="0" rtlCol="0" anchor="ctr"/>
          <a:lstStyle/>
          <a:p>
            <a:pPr indent="0" marL="0">
              <a:buNone/>
            </a:pPr>
            <a:r>
              <a:rPr lang="en-US" sz="1300" b="1" dirty="0">
                <a:solidFill>
                  <a:srgbClr val="1A1F3D"/>
                </a:solidFill>
                <a:latin typeface="Calibri" pitchFamily="34" charset="0"/>
                <a:ea typeface="Calibri" pitchFamily="34" charset="-122"/>
                <a:cs typeface="Calibri" pitchFamily="34" charset="-120"/>
              </a:rPr>
              <a:t>Inspired Udacity</a:t>
            </a:r>
            <a:endParaRPr lang="en-US" sz="1300" dirty="0"/>
          </a:p>
        </p:txBody>
      </p:sp>
      <p:sp>
        <p:nvSpPr>
          <p:cNvPr id="13" name="Text 10"/>
          <p:cNvSpPr/>
          <p:nvPr/>
        </p:nvSpPr>
        <p:spPr>
          <a:xfrm>
            <a:off x="731520" y="3794760"/>
            <a:ext cx="2194560" cy="777240"/>
          </a:xfrm>
          <a:prstGeom prst="rect">
            <a:avLst/>
          </a:prstGeom>
          <a:noFill/>
          <a:ln/>
        </p:spPr>
        <p:txBody>
          <a:bodyPr wrap="square" lIns="0" tIns="0" rIns="0" bIns="0" rtlCol="0" anchor="ctr"/>
          <a:lstStyle/>
          <a:p>
            <a:pPr indent="0" marL="0">
              <a:buNone/>
            </a:pPr>
            <a:r>
              <a:rPr lang="en-US" sz="1100" dirty="0">
                <a:solidFill>
                  <a:srgbClr val="2C3050"/>
                </a:solidFill>
                <a:latin typeface="Calibri" pitchFamily="34" charset="0"/>
                <a:ea typeface="Calibri" pitchFamily="34" charset="-122"/>
                <a:cs typeface="Calibri" pitchFamily="34" charset="-120"/>
              </a:rPr>
              <a:t>Thrun founded the online learning platform directly after this course</a:t>
            </a:r>
            <a:endParaRPr lang="en-US" sz="1100" dirty="0"/>
          </a:p>
        </p:txBody>
      </p:sp>
      <p:sp>
        <p:nvSpPr>
          <p:cNvPr id="14" name="Shape 11"/>
          <p:cNvSpPr/>
          <p:nvPr/>
        </p:nvSpPr>
        <p:spPr>
          <a:xfrm>
            <a:off x="3383280" y="3200400"/>
            <a:ext cx="2560320" cy="15544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5" name="Shape 12"/>
          <p:cNvSpPr/>
          <p:nvPr/>
        </p:nvSpPr>
        <p:spPr>
          <a:xfrm>
            <a:off x="3383280" y="3200400"/>
            <a:ext cx="2560320" cy="45720"/>
          </a:xfrm>
          <a:prstGeom prst="rect">
            <a:avLst/>
          </a:prstGeom>
          <a:solidFill>
            <a:srgbClr val="E8A838"/>
          </a:solidFill>
          <a:ln/>
        </p:spPr>
      </p:sp>
      <p:sp>
        <p:nvSpPr>
          <p:cNvPr id="16" name="Text 13"/>
          <p:cNvSpPr/>
          <p:nvPr/>
        </p:nvSpPr>
        <p:spPr>
          <a:xfrm>
            <a:off x="3566160" y="3383280"/>
            <a:ext cx="2194560" cy="411480"/>
          </a:xfrm>
          <a:prstGeom prst="rect">
            <a:avLst/>
          </a:prstGeom>
          <a:noFill/>
          <a:ln/>
        </p:spPr>
        <p:txBody>
          <a:bodyPr wrap="square" lIns="0" tIns="0" rIns="0" bIns="0" rtlCol="0" anchor="ctr"/>
          <a:lstStyle/>
          <a:p>
            <a:pPr indent="0" marL="0">
              <a:buNone/>
            </a:pPr>
            <a:r>
              <a:rPr lang="en-US" sz="1300" b="1" dirty="0">
                <a:solidFill>
                  <a:srgbClr val="1A1F3D"/>
                </a:solidFill>
                <a:latin typeface="Calibri" pitchFamily="34" charset="0"/>
                <a:ea typeface="Calibri" pitchFamily="34" charset="-122"/>
                <a:cs typeface="Calibri" pitchFamily="34" charset="-120"/>
              </a:rPr>
              <a:t>Sparked the MOOC Era</a:t>
            </a:r>
            <a:endParaRPr lang="en-US" sz="1300" dirty="0"/>
          </a:p>
        </p:txBody>
      </p:sp>
      <p:sp>
        <p:nvSpPr>
          <p:cNvPr id="17" name="Text 14"/>
          <p:cNvSpPr/>
          <p:nvPr/>
        </p:nvSpPr>
        <p:spPr>
          <a:xfrm>
            <a:off x="3566160" y="3794760"/>
            <a:ext cx="2194560" cy="777240"/>
          </a:xfrm>
          <a:prstGeom prst="rect">
            <a:avLst/>
          </a:prstGeom>
          <a:noFill/>
          <a:ln/>
        </p:spPr>
        <p:txBody>
          <a:bodyPr wrap="square" lIns="0" tIns="0" rIns="0" bIns="0" rtlCol="0" anchor="ctr"/>
          <a:lstStyle/>
          <a:p>
            <a:pPr indent="0" marL="0">
              <a:buNone/>
            </a:pPr>
            <a:r>
              <a:rPr lang="en-US" sz="1100" dirty="0">
                <a:solidFill>
                  <a:srgbClr val="2C3050"/>
                </a:solidFill>
                <a:latin typeface="Calibri" pitchFamily="34" charset="0"/>
                <a:ea typeface="Calibri" pitchFamily="34" charset="-122"/>
                <a:cs typeface="Calibri" pitchFamily="34" charset="-120"/>
              </a:rPr>
              <a:t>Led to the creation of Coursera, edX, and global online learning</a:t>
            </a:r>
            <a:endParaRPr lang="en-US" sz="1100" dirty="0"/>
          </a:p>
        </p:txBody>
      </p:sp>
      <p:sp>
        <p:nvSpPr>
          <p:cNvPr id="18" name="Shape 15"/>
          <p:cNvSpPr/>
          <p:nvPr/>
        </p:nvSpPr>
        <p:spPr>
          <a:xfrm>
            <a:off x="6217920" y="3200400"/>
            <a:ext cx="2560320" cy="15544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9" name="Shape 16"/>
          <p:cNvSpPr/>
          <p:nvPr/>
        </p:nvSpPr>
        <p:spPr>
          <a:xfrm>
            <a:off x="6217920" y="3200400"/>
            <a:ext cx="2560320" cy="45720"/>
          </a:xfrm>
          <a:prstGeom prst="rect">
            <a:avLst/>
          </a:prstGeom>
          <a:solidFill>
            <a:srgbClr val="E8A838"/>
          </a:solidFill>
          <a:ln/>
        </p:spPr>
      </p:sp>
      <p:sp>
        <p:nvSpPr>
          <p:cNvPr id="20" name="Text 17"/>
          <p:cNvSpPr/>
          <p:nvPr/>
        </p:nvSpPr>
        <p:spPr>
          <a:xfrm>
            <a:off x="6400800" y="3383280"/>
            <a:ext cx="2194560" cy="411480"/>
          </a:xfrm>
          <a:prstGeom prst="rect">
            <a:avLst/>
          </a:prstGeom>
          <a:noFill/>
          <a:ln/>
        </p:spPr>
        <p:txBody>
          <a:bodyPr wrap="square" lIns="0" tIns="0" rIns="0" bIns="0" rtlCol="0" anchor="ctr"/>
          <a:lstStyle/>
          <a:p>
            <a:pPr indent="0" marL="0">
              <a:buNone/>
            </a:pPr>
            <a:r>
              <a:rPr lang="en-US" sz="1300" b="1" dirty="0">
                <a:solidFill>
                  <a:srgbClr val="1A1F3D"/>
                </a:solidFill>
                <a:latin typeface="Calibri" pitchFamily="34" charset="0"/>
                <a:ea typeface="Calibri" pitchFamily="34" charset="-122"/>
                <a:cs typeface="Calibri" pitchFamily="34" charset="-120"/>
              </a:rPr>
              <a:t>Stanford HAI Fellow</a:t>
            </a:r>
            <a:endParaRPr lang="en-US" sz="1300" dirty="0"/>
          </a:p>
        </p:txBody>
      </p:sp>
      <p:sp>
        <p:nvSpPr>
          <p:cNvPr id="21" name="Text 18"/>
          <p:cNvSpPr/>
          <p:nvPr/>
        </p:nvSpPr>
        <p:spPr>
          <a:xfrm>
            <a:off x="6400800" y="3794760"/>
            <a:ext cx="2194560" cy="777240"/>
          </a:xfrm>
          <a:prstGeom prst="rect">
            <a:avLst/>
          </a:prstGeom>
          <a:noFill/>
          <a:ln/>
        </p:spPr>
        <p:txBody>
          <a:bodyPr wrap="square" lIns="0" tIns="0" rIns="0" bIns="0" rtlCol="0" anchor="ctr"/>
          <a:lstStyle/>
          <a:p>
            <a:pPr indent="0" marL="0">
              <a:buNone/>
            </a:pPr>
            <a:r>
              <a:rPr lang="en-US" sz="1100" dirty="0">
                <a:solidFill>
                  <a:srgbClr val="2C3050"/>
                </a:solidFill>
                <a:latin typeface="Calibri" pitchFamily="34" charset="0"/>
                <a:ea typeface="Calibri" pitchFamily="34" charset="-122"/>
                <a:cs typeface="Calibri" pitchFamily="34" charset="-120"/>
              </a:rPr>
              <a:t>Now focuses on human centered AI and ethics in education at Stanford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F3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A838"/>
          </a:solidFill>
          <a:ln/>
        </p:spPr>
      </p:sp>
      <p:pic>
        <p:nvPicPr>
          <p:cNvPr id="3" name="Image 0" descr="preencoded.png">    </p:cNvPr>
          <p:cNvPicPr>
            <a:picLocks noChangeAspect="1"/>
          </p:cNvPicPr>
          <p:nvPr/>
        </p:nvPicPr>
        <p:blipFill>
          <a:blip r:embed="rId1"/>
          <a:stretch>
            <a:fillRect/>
          </a:stretch>
        </p:blipFill>
        <p:spPr>
          <a:xfrm>
            <a:off x="548640" y="274320"/>
            <a:ext cx="411480" cy="411480"/>
          </a:xfrm>
          <a:prstGeom prst="rect">
            <a:avLst/>
          </a:prstGeom>
        </p:spPr>
      </p:pic>
      <p:sp>
        <p:nvSpPr>
          <p:cNvPr id="4" name="Text 1"/>
          <p:cNvSpPr/>
          <p:nvPr/>
        </p:nvSpPr>
        <p:spPr>
          <a:xfrm>
            <a:off x="1097280" y="228600"/>
            <a:ext cx="7498080" cy="5486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What Makes Norvig Fascinating?</a:t>
            </a:r>
            <a:endParaRPr lang="en-US" sz="2800" dirty="0"/>
          </a:p>
        </p:txBody>
      </p:sp>
      <p:sp>
        <p:nvSpPr>
          <p:cNvPr id="5" name="Shape 2"/>
          <p:cNvSpPr/>
          <p:nvPr/>
        </p:nvSpPr>
        <p:spPr>
          <a:xfrm>
            <a:off x="548640" y="1051560"/>
            <a:ext cx="8046720" cy="1051560"/>
          </a:xfrm>
          <a:prstGeom prst="rect">
            <a:avLst/>
          </a:prstGeom>
          <a:solidFill>
            <a:srgbClr val="252B54"/>
          </a:solidFill>
          <a:ln/>
          <a:effectLst>
            <a:outerShdw sx="100000" sy="100000" kx="0" ky="0" algn="bl" rotWithShape="0" blurRad="101600" dist="38100" dir="8100000">
              <a:srgbClr val="000000">
                <a:alpha val="12000"/>
              </a:srgbClr>
            </a:outerShdw>
          </a:effectLst>
        </p:spPr>
      </p:sp>
      <p:sp>
        <p:nvSpPr>
          <p:cNvPr id="6" name="Shape 3"/>
          <p:cNvSpPr/>
          <p:nvPr/>
        </p:nvSpPr>
        <p:spPr>
          <a:xfrm>
            <a:off x="548640" y="1051560"/>
            <a:ext cx="777240" cy="1051560"/>
          </a:xfrm>
          <a:prstGeom prst="rect">
            <a:avLst/>
          </a:prstGeom>
          <a:solidFill>
            <a:srgbClr val="E8A838"/>
          </a:solidFill>
          <a:ln/>
        </p:spPr>
      </p:sp>
      <p:sp>
        <p:nvSpPr>
          <p:cNvPr id="7" name="Text 4"/>
          <p:cNvSpPr/>
          <p:nvPr/>
        </p:nvSpPr>
        <p:spPr>
          <a:xfrm>
            <a:off x="548640" y="1051560"/>
            <a:ext cx="777240" cy="1051560"/>
          </a:xfrm>
          <a:prstGeom prst="rect">
            <a:avLst/>
          </a:prstGeom>
          <a:noFill/>
          <a:ln/>
        </p:spPr>
        <p:txBody>
          <a:bodyPr wrap="square" lIns="0" tIns="0" rIns="0" bIns="0" rtlCol="0" anchor="ctr"/>
          <a:lstStyle/>
          <a:p>
            <a:pPr algn="ctr" indent="0" marL="0">
              <a:buNone/>
            </a:pPr>
            <a:r>
              <a:rPr lang="en-US" sz="3000" b="1" dirty="0">
                <a:solidFill>
                  <a:srgbClr val="1A1F3D"/>
                </a:solidFill>
                <a:latin typeface="Georgia" pitchFamily="34" charset="0"/>
                <a:ea typeface="Georgia" pitchFamily="34" charset="-122"/>
                <a:cs typeface="Georgia" pitchFamily="34" charset="-120"/>
              </a:rPr>
              <a:t>1</a:t>
            </a:r>
            <a:endParaRPr lang="en-US" sz="3000" dirty="0"/>
          </a:p>
        </p:txBody>
      </p:sp>
      <p:sp>
        <p:nvSpPr>
          <p:cNvPr id="8" name="Text 5"/>
          <p:cNvSpPr/>
          <p:nvPr/>
        </p:nvSpPr>
        <p:spPr>
          <a:xfrm>
            <a:off x="1554480" y="1143000"/>
            <a:ext cx="6766560" cy="868680"/>
          </a:xfrm>
          <a:prstGeom prst="rect">
            <a:avLst/>
          </a:prstGeom>
          <a:noFill/>
          <a:ln/>
        </p:spPr>
        <p:txBody>
          <a:bodyPr wrap="square" lIns="0" tIns="0" rIns="0" bIns="0" rtlCol="0" anchor="ctr"/>
          <a:lstStyle/>
          <a:p>
            <a:pPr indent="0" marL="0">
              <a:buNone/>
            </a:pPr>
            <a:r>
              <a:rPr lang="en-US" sz="1600" b="1" dirty="0">
                <a:solidFill>
                  <a:srgbClr val="E8A838"/>
                </a:solidFill>
                <a:latin typeface="Calibri" pitchFamily="34" charset="0"/>
                <a:ea typeface="Calibri" pitchFamily="34" charset="-122"/>
                <a:cs typeface="Calibri" pitchFamily="34" charset="-120"/>
              </a:rPr>
              <a:t>Theory Meets Practice</a:t>
            </a:r>
            <a:endParaRPr lang="en-US" sz="1600" dirty="0"/>
          </a:p>
          <a:p>
            <a:pPr indent="0" marL="0">
              <a:buNone/>
            </a:pPr>
            <a:r>
              <a:rPr lang="en-US" sz="1200" dirty="0">
                <a:solidFill>
                  <a:srgbClr val="CADCFC"/>
                </a:solidFill>
                <a:latin typeface="Calibri" pitchFamily="34" charset="0"/>
                <a:ea typeface="Calibri" pitchFamily="34" charset="-122"/>
                <a:cs typeface="Calibri" pitchFamily="34" charset="-120"/>
              </a:rPr>
              <a:t>Few researchers have both written the definitive textbook and built real AI systems that flew on spacecraft and powered billions of daily searches.</a:t>
            </a:r>
            <a:endParaRPr lang="en-US" sz="1600" dirty="0"/>
          </a:p>
        </p:txBody>
      </p:sp>
      <p:sp>
        <p:nvSpPr>
          <p:cNvPr id="9" name="Shape 6"/>
          <p:cNvSpPr/>
          <p:nvPr/>
        </p:nvSpPr>
        <p:spPr>
          <a:xfrm>
            <a:off x="548640" y="2331720"/>
            <a:ext cx="8046720" cy="1051560"/>
          </a:xfrm>
          <a:prstGeom prst="rect">
            <a:avLst/>
          </a:prstGeom>
          <a:solidFill>
            <a:srgbClr val="252B54"/>
          </a:solidFill>
          <a:ln/>
          <a:effectLst>
            <a:outerShdw sx="100000" sy="100000" kx="0" ky="0" algn="bl" rotWithShape="0" blurRad="101600" dist="38100" dir="8100000">
              <a:srgbClr val="000000">
                <a:alpha val="12000"/>
              </a:srgbClr>
            </a:outerShdw>
          </a:effectLst>
        </p:spPr>
      </p:sp>
      <p:sp>
        <p:nvSpPr>
          <p:cNvPr id="10" name="Shape 7"/>
          <p:cNvSpPr/>
          <p:nvPr/>
        </p:nvSpPr>
        <p:spPr>
          <a:xfrm>
            <a:off x="548640" y="2331720"/>
            <a:ext cx="777240" cy="1051560"/>
          </a:xfrm>
          <a:prstGeom prst="rect">
            <a:avLst/>
          </a:prstGeom>
          <a:solidFill>
            <a:srgbClr val="E8A838"/>
          </a:solidFill>
          <a:ln/>
        </p:spPr>
      </p:sp>
      <p:sp>
        <p:nvSpPr>
          <p:cNvPr id="11" name="Text 8"/>
          <p:cNvSpPr/>
          <p:nvPr/>
        </p:nvSpPr>
        <p:spPr>
          <a:xfrm>
            <a:off x="548640" y="2331720"/>
            <a:ext cx="777240" cy="1051560"/>
          </a:xfrm>
          <a:prstGeom prst="rect">
            <a:avLst/>
          </a:prstGeom>
          <a:noFill/>
          <a:ln/>
        </p:spPr>
        <p:txBody>
          <a:bodyPr wrap="square" lIns="0" tIns="0" rIns="0" bIns="0" rtlCol="0" anchor="ctr"/>
          <a:lstStyle/>
          <a:p>
            <a:pPr algn="ctr" indent="0" marL="0">
              <a:buNone/>
            </a:pPr>
            <a:r>
              <a:rPr lang="en-US" sz="3000" b="1" dirty="0">
                <a:solidFill>
                  <a:srgbClr val="1A1F3D"/>
                </a:solidFill>
                <a:latin typeface="Georgia" pitchFamily="34" charset="0"/>
                <a:ea typeface="Georgia" pitchFamily="34" charset="-122"/>
                <a:cs typeface="Georgia" pitchFamily="34" charset="-120"/>
              </a:rPr>
              <a:t>2</a:t>
            </a:r>
            <a:endParaRPr lang="en-US" sz="3000" dirty="0"/>
          </a:p>
        </p:txBody>
      </p:sp>
      <p:sp>
        <p:nvSpPr>
          <p:cNvPr id="12" name="Text 9"/>
          <p:cNvSpPr/>
          <p:nvPr/>
        </p:nvSpPr>
        <p:spPr>
          <a:xfrm>
            <a:off x="1554480" y="2423160"/>
            <a:ext cx="6766560" cy="868680"/>
          </a:xfrm>
          <a:prstGeom prst="rect">
            <a:avLst/>
          </a:prstGeom>
          <a:noFill/>
          <a:ln/>
        </p:spPr>
        <p:txBody>
          <a:bodyPr wrap="square" lIns="0" tIns="0" rIns="0" bIns="0" rtlCol="0" anchor="ctr"/>
          <a:lstStyle/>
          <a:p>
            <a:pPr indent="0" marL="0">
              <a:buNone/>
            </a:pPr>
            <a:r>
              <a:rPr lang="en-US" sz="1600" b="1" dirty="0">
                <a:solidFill>
                  <a:srgbClr val="E8A838"/>
                </a:solidFill>
                <a:latin typeface="Calibri" pitchFamily="34" charset="0"/>
                <a:ea typeface="Calibri" pitchFamily="34" charset="-122"/>
                <a:cs typeface="Calibri" pitchFamily="34" charset="-120"/>
              </a:rPr>
              <a:t>Humor &amp; Humanity</a:t>
            </a:r>
            <a:endParaRPr lang="en-US" sz="1600" dirty="0"/>
          </a:p>
          <a:p>
            <a:pPr indent="0" marL="0">
              <a:buNone/>
            </a:pPr>
            <a:r>
              <a:rPr lang="en-US" sz="1200" dirty="0">
                <a:solidFill>
                  <a:srgbClr val="CADCFC"/>
                </a:solidFill>
                <a:latin typeface="Calibri" pitchFamily="34" charset="0"/>
                <a:ea typeface="Calibri" pitchFamily="34" charset="-122"/>
                <a:cs typeface="Calibri" pitchFamily="34" charset="-120"/>
              </a:rPr>
              <a:t>His Gettysburg PowerPoint satire and "Teach Yourself Programming in Ten Years" essay show a thinker who values clarity, patience, and wit over hype.</a:t>
            </a:r>
            <a:endParaRPr lang="en-US" sz="1600" dirty="0"/>
          </a:p>
        </p:txBody>
      </p:sp>
      <p:sp>
        <p:nvSpPr>
          <p:cNvPr id="13" name="Shape 10"/>
          <p:cNvSpPr/>
          <p:nvPr/>
        </p:nvSpPr>
        <p:spPr>
          <a:xfrm>
            <a:off x="548640" y="3611880"/>
            <a:ext cx="8046720" cy="1051560"/>
          </a:xfrm>
          <a:prstGeom prst="rect">
            <a:avLst/>
          </a:prstGeom>
          <a:solidFill>
            <a:srgbClr val="252B54"/>
          </a:solidFill>
          <a:ln/>
          <a:effectLst>
            <a:outerShdw sx="100000" sy="100000" kx="0" ky="0" algn="bl" rotWithShape="0" blurRad="101600" dist="38100" dir="8100000">
              <a:srgbClr val="000000">
                <a:alpha val="12000"/>
              </a:srgbClr>
            </a:outerShdw>
          </a:effectLst>
        </p:spPr>
      </p:sp>
      <p:sp>
        <p:nvSpPr>
          <p:cNvPr id="14" name="Shape 11"/>
          <p:cNvSpPr/>
          <p:nvPr/>
        </p:nvSpPr>
        <p:spPr>
          <a:xfrm>
            <a:off x="548640" y="3611880"/>
            <a:ext cx="777240" cy="1051560"/>
          </a:xfrm>
          <a:prstGeom prst="rect">
            <a:avLst/>
          </a:prstGeom>
          <a:solidFill>
            <a:srgbClr val="E8A838"/>
          </a:solidFill>
          <a:ln/>
        </p:spPr>
      </p:sp>
      <p:sp>
        <p:nvSpPr>
          <p:cNvPr id="15" name="Text 12"/>
          <p:cNvSpPr/>
          <p:nvPr/>
        </p:nvSpPr>
        <p:spPr>
          <a:xfrm>
            <a:off x="548640" y="3611880"/>
            <a:ext cx="777240" cy="1051560"/>
          </a:xfrm>
          <a:prstGeom prst="rect">
            <a:avLst/>
          </a:prstGeom>
          <a:noFill/>
          <a:ln/>
        </p:spPr>
        <p:txBody>
          <a:bodyPr wrap="square" lIns="0" tIns="0" rIns="0" bIns="0" rtlCol="0" anchor="ctr"/>
          <a:lstStyle/>
          <a:p>
            <a:pPr algn="ctr" indent="0" marL="0">
              <a:buNone/>
            </a:pPr>
            <a:r>
              <a:rPr lang="en-US" sz="3000" b="1" dirty="0">
                <a:solidFill>
                  <a:srgbClr val="1A1F3D"/>
                </a:solidFill>
                <a:latin typeface="Georgia" pitchFamily="34" charset="0"/>
                <a:ea typeface="Georgia" pitchFamily="34" charset="-122"/>
                <a:cs typeface="Georgia" pitchFamily="34" charset="-120"/>
              </a:rPr>
              <a:t>3</a:t>
            </a:r>
            <a:endParaRPr lang="en-US" sz="3000" dirty="0"/>
          </a:p>
        </p:txBody>
      </p:sp>
      <p:sp>
        <p:nvSpPr>
          <p:cNvPr id="16" name="Text 13"/>
          <p:cNvSpPr/>
          <p:nvPr/>
        </p:nvSpPr>
        <p:spPr>
          <a:xfrm>
            <a:off x="1554480" y="3703320"/>
            <a:ext cx="6766560" cy="868680"/>
          </a:xfrm>
          <a:prstGeom prst="rect">
            <a:avLst/>
          </a:prstGeom>
          <a:noFill/>
          <a:ln/>
        </p:spPr>
        <p:txBody>
          <a:bodyPr wrap="square" lIns="0" tIns="0" rIns="0" bIns="0" rtlCol="0" anchor="ctr"/>
          <a:lstStyle/>
          <a:p>
            <a:pPr indent="0" marL="0">
              <a:buNone/>
            </a:pPr>
            <a:r>
              <a:rPr lang="en-US" sz="1600" b="1" dirty="0">
                <a:solidFill>
                  <a:srgbClr val="E8A838"/>
                </a:solidFill>
                <a:latin typeface="Calibri" pitchFamily="34" charset="0"/>
                <a:ea typeface="Calibri" pitchFamily="34" charset="-122"/>
                <a:cs typeface="Calibri" pitchFamily="34" charset="-120"/>
              </a:rPr>
              <a:t>Relentless Democratizer</a:t>
            </a:r>
            <a:endParaRPr lang="en-US" sz="1600" dirty="0"/>
          </a:p>
          <a:p>
            <a:pPr indent="0" marL="0">
              <a:buNone/>
            </a:pPr>
            <a:r>
              <a:rPr lang="en-US" sz="1200" dirty="0">
                <a:solidFill>
                  <a:srgbClr val="CADCFC"/>
                </a:solidFill>
                <a:latin typeface="Calibri" pitchFamily="34" charset="0"/>
                <a:ea typeface="Calibri" pitchFamily="34" charset="-122"/>
                <a:cs typeface="Calibri" pitchFamily="34" charset="-120"/>
              </a:rPr>
              <a:t>From open source AIMA code to the first massive online AI course, Norvig has consistently broken down barriers to knowledge that once existed only at elite institutions.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F3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A838"/>
          </a:solidFill>
          <a:ln/>
        </p:spPr>
      </p:sp>
      <p:sp>
        <p:nvSpPr>
          <p:cNvPr id="3" name="Text 1"/>
          <p:cNvSpPr/>
          <p:nvPr/>
        </p:nvSpPr>
        <p:spPr>
          <a:xfrm>
            <a:off x="731520" y="1097280"/>
            <a:ext cx="768096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4" name="Shape 2"/>
          <p:cNvSpPr/>
          <p:nvPr/>
        </p:nvSpPr>
        <p:spPr>
          <a:xfrm>
            <a:off x="3886200" y="2240280"/>
            <a:ext cx="1371600" cy="36576"/>
          </a:xfrm>
          <a:prstGeom prst="rect">
            <a:avLst/>
          </a:prstGeom>
          <a:solidFill>
            <a:srgbClr val="E8A838"/>
          </a:solidFill>
          <a:ln/>
        </p:spPr>
      </p:sp>
      <p:sp>
        <p:nvSpPr>
          <p:cNvPr id="5" name="Text 3"/>
          <p:cNvSpPr/>
          <p:nvPr/>
        </p:nvSpPr>
        <p:spPr>
          <a:xfrm>
            <a:off x="1371600" y="2560320"/>
            <a:ext cx="6400800" cy="914400"/>
          </a:xfrm>
          <a:prstGeom prst="rect">
            <a:avLst/>
          </a:prstGeom>
          <a:noFill/>
          <a:ln/>
        </p:spPr>
        <p:txBody>
          <a:bodyPr wrap="square" lIns="0" tIns="0" rIns="0" bIns="0" rtlCol="0" anchor="ctr"/>
          <a:lstStyle/>
          <a:p>
            <a:pPr algn="ctr" indent="0" marL="0">
              <a:buNone/>
            </a:pPr>
            <a:r>
              <a:rPr lang="en-US" sz="1500" i="1" dirty="0">
                <a:solidFill>
                  <a:srgbClr val="CADCFC"/>
                </a:solidFill>
                <a:latin typeface="Calibri" pitchFamily="34" charset="0"/>
                <a:ea typeface="Calibri" pitchFamily="34" charset="-122"/>
                <a:cs typeface="Calibri" pitchFamily="34" charset="-120"/>
              </a:rPr>
              <a:t>Peter Norvig reminds us that the best contributions</a:t>
            </a:r>
            <a:endParaRPr lang="en-US" sz="1500" dirty="0"/>
          </a:p>
          <a:p>
            <a:pPr algn="ctr" indent="0" marL="0">
              <a:buNone/>
            </a:pPr>
            <a:r>
              <a:rPr lang="en-US" sz="1500" i="1" dirty="0">
                <a:solidFill>
                  <a:srgbClr val="CADCFC"/>
                </a:solidFill>
                <a:latin typeface="Calibri" pitchFamily="34" charset="0"/>
                <a:ea typeface="Calibri" pitchFamily="34" charset="-122"/>
                <a:cs typeface="Calibri" pitchFamily="34" charset="-120"/>
              </a:rPr>
              <a:t>to science are those that empower others to learn, build, and explore.</a:t>
            </a:r>
            <a:endParaRPr lang="en-US" sz="1500" dirty="0"/>
          </a:p>
        </p:txBody>
      </p:sp>
      <p:sp>
        <p:nvSpPr>
          <p:cNvPr id="6" name="Text 4"/>
          <p:cNvSpPr/>
          <p:nvPr/>
        </p:nvSpPr>
        <p:spPr>
          <a:xfrm>
            <a:off x="731520" y="4389120"/>
            <a:ext cx="7680960" cy="365760"/>
          </a:xfrm>
          <a:prstGeom prst="rect">
            <a:avLst/>
          </a:prstGeom>
          <a:noFill/>
          <a:ln/>
        </p:spPr>
        <p:txBody>
          <a:bodyPr wrap="square" lIns="0" tIns="0" rIns="0" bIns="0" rtlCol="0" anchor="ctr"/>
          <a:lstStyle/>
          <a:p>
            <a:pPr algn="ctr" indent="0" marL="0">
              <a:buNone/>
            </a:pPr>
            <a:r>
              <a:rPr lang="en-US" sz="1100" dirty="0">
                <a:solidFill>
                  <a:srgbClr val="6B7094"/>
                </a:solidFill>
                <a:latin typeface="Calibri" pitchFamily="34" charset="0"/>
                <a:ea typeface="Calibri" pitchFamily="34" charset="-122"/>
                <a:cs typeface="Calibri" pitchFamily="34" charset="-120"/>
              </a:rPr>
              <a:t>Walker  |  Northeastern University  |  Computer Science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Peter Norvig: A Giant of AI</dc:title>
  <dc:subject>PptxGenJS Presentation</dc:subject>
  <dc:creator>Walker</dc:creator>
  <cp:lastModifiedBy>Walker</cp:lastModifiedBy>
  <cp:revision>1</cp:revision>
  <dcterms:created xsi:type="dcterms:W3CDTF">2026-03-10T11:10:41Z</dcterms:created>
  <dcterms:modified xsi:type="dcterms:W3CDTF">2026-03-10T11:10:41Z</dcterms:modified>
</cp:coreProperties>
</file>